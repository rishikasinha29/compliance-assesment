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3" r:id="rId2"/>
  </p:sldMasterIdLst>
  <p:notesMasterIdLst>
    <p:notesMasterId r:id="rId48"/>
  </p:notesMasterIdLst>
  <p:sldIdLst>
    <p:sldId id="256" r:id="rId3"/>
    <p:sldId id="258" r:id="rId4"/>
    <p:sldId id="259" r:id="rId5"/>
    <p:sldId id="260" r:id="rId6"/>
    <p:sldId id="261" r:id="rId7"/>
    <p:sldId id="262" r:id="rId8"/>
    <p:sldId id="263" r:id="rId9"/>
    <p:sldId id="264" r:id="rId10"/>
    <p:sldId id="265" r:id="rId11"/>
    <p:sldId id="266" r:id="rId12"/>
    <p:sldId id="267" r:id="rId13"/>
    <p:sldId id="269" r:id="rId14"/>
    <p:sldId id="323" r:id="rId15"/>
    <p:sldId id="324" r:id="rId16"/>
    <p:sldId id="271" r:id="rId17"/>
    <p:sldId id="272" r:id="rId18"/>
    <p:sldId id="294" r:id="rId19"/>
    <p:sldId id="274" r:id="rId20"/>
    <p:sldId id="275" r:id="rId21"/>
    <p:sldId id="276" r:id="rId22"/>
    <p:sldId id="277" r:id="rId23"/>
    <p:sldId id="278" r:id="rId24"/>
    <p:sldId id="279" r:id="rId25"/>
    <p:sldId id="338" r:id="rId26"/>
    <p:sldId id="339" r:id="rId27"/>
    <p:sldId id="340" r:id="rId28"/>
    <p:sldId id="341" r:id="rId29"/>
    <p:sldId id="342" r:id="rId30"/>
    <p:sldId id="343" r:id="rId31"/>
    <p:sldId id="344" r:id="rId32"/>
    <p:sldId id="345" r:id="rId33"/>
    <p:sldId id="346" r:id="rId34"/>
    <p:sldId id="347" r:id="rId35"/>
    <p:sldId id="348" r:id="rId36"/>
    <p:sldId id="349" r:id="rId37"/>
    <p:sldId id="350" r:id="rId38"/>
    <p:sldId id="351" r:id="rId39"/>
    <p:sldId id="352" r:id="rId40"/>
    <p:sldId id="353" r:id="rId41"/>
    <p:sldId id="270" r:id="rId42"/>
    <p:sldId id="281" r:id="rId43"/>
    <p:sldId id="282" r:id="rId44"/>
    <p:sldId id="283" r:id="rId45"/>
    <p:sldId id="284" r:id="rId46"/>
    <p:sldId id="285" r:id="rId47"/>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nav Gupta" initials="AG" lastIdx="1" clrIdx="0">
    <p:extLst>
      <p:ext uri="{19B8F6BF-5375-455C-9EA6-DF929625EA0E}">
        <p15:presenceInfo xmlns:p15="http://schemas.microsoft.com/office/powerpoint/2012/main" userId="f9b330da3cf6f5a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B59"/>
    <a:srgbClr val="66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25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4E432-B1C3-44C4-9D68-3FC8EEDA25F5}" type="datetimeFigureOut">
              <a:rPr lang="en-IN" smtClean="0"/>
              <a:t>05-02-2025</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AD6D5-7C25-4B9A-9887-13E7A4610C1B}" type="slidenum">
              <a:rPr lang="en-IN" smtClean="0"/>
              <a:t>‹#›</a:t>
            </a:fld>
            <a:endParaRPr lang="en-IN"/>
          </a:p>
        </p:txBody>
      </p:sp>
    </p:spTree>
    <p:extLst>
      <p:ext uri="{BB962C8B-B14F-4D97-AF65-F5344CB8AC3E}">
        <p14:creationId xmlns:p14="http://schemas.microsoft.com/office/powerpoint/2010/main" val="79251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be88b6f23_0_7: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abe88b6f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f456f9df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f456f9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ac51c0f76_0_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ac51c0f7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f4f456f9df_0_1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f4f456f9d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cac51c0f76_0_39: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cac51c0f76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c798cac661_0_8: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c798cac66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f530de07d7_0_1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f530de07d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f530de07d7_0_2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f530de07d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be88b6f23_0_101: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f530de07d7_0_4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f530de07d7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cac51c0f76_0_7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cac51c0f76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ac51c0f76_0_7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ac51c0f76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c7d995588e_0_1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c7d995588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f530de07d7_0_73: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f530de07d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ca0e9965d2_0_3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ca0e9965d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9b6028862_0_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c9b602886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c9b6028862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c9b60288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6237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9113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1838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3236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0154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928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6777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9468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9173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7449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8255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3008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7129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473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3098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7d995588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c7d995588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3196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c9b6028862_0_29: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c9b602886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c9b6028862_0_3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c9b602886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c9b6028862_0_4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c9b6028862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ac2f510ffe_0_36: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ac2f510ff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c9b6028862_0_24: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c9b602886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05739" y="2888488"/>
            <a:ext cx="6452756" cy="2319129"/>
          </a:xfrm>
        </p:spPr>
        <p:txBody>
          <a:bodyPr tIns="45720" bIns="45720" anchor="ctr">
            <a:normAutofit/>
          </a:bodyPr>
          <a:lstStyle>
            <a:lvl1pPr algn="ctr">
              <a:lnSpc>
                <a:spcPct val="80000"/>
              </a:lnSpc>
              <a:defRPr sz="4500" spc="0" baseline="0"/>
            </a:lvl1pPr>
          </a:lstStyle>
          <a:p>
            <a:r>
              <a:rPr lang="en-US"/>
              <a:t>Click to edit Master title style</a:t>
            </a:r>
            <a:endParaRPr lang="en-US" dirty="0"/>
          </a:p>
        </p:txBody>
      </p:sp>
      <p:sp>
        <p:nvSpPr>
          <p:cNvPr id="3" name="Subtitle 2"/>
          <p:cNvSpPr>
            <a:spLocks noGrp="1"/>
          </p:cNvSpPr>
          <p:nvPr>
            <p:ph type="subTitle" idx="1"/>
          </p:nvPr>
        </p:nvSpPr>
        <p:spPr>
          <a:xfrm>
            <a:off x="857250" y="5293754"/>
            <a:ext cx="5143500" cy="1745673"/>
          </a:xfrm>
        </p:spPr>
        <p:txBody>
          <a:bodyPr>
            <a:normAutofit/>
          </a:bodyPr>
          <a:lstStyle>
            <a:lvl1pPr marL="0" indent="0" algn="ctr">
              <a:buNone/>
              <a:defRPr sz="1500"/>
            </a:lvl1pPr>
            <a:lvl2pPr marL="342900" indent="0" algn="ctr">
              <a:buNone/>
              <a:defRPr sz="1500"/>
            </a:lvl2pPr>
            <a:lvl3pPr marL="685800" indent="0" algn="ctr">
              <a:buNone/>
              <a:defRPr sz="15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65942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192135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68670" y="2945172"/>
            <a:ext cx="5915025" cy="2235200"/>
          </a:xfrm>
        </p:spPr>
        <p:txBody>
          <a:bodyPr anchor="ctr">
            <a:noAutofit/>
          </a:bodyPr>
          <a:lstStyle>
            <a:lvl1pPr algn="ctr">
              <a:lnSpc>
                <a:spcPct val="80000"/>
              </a:lnSpc>
              <a:defRPr sz="4500" b="0" spc="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670" y="5312534"/>
            <a:ext cx="5915025" cy="1566185"/>
          </a:xfrm>
        </p:spPr>
        <p:txBody>
          <a:bodyPr anchor="t">
            <a:normAutofit/>
          </a:bodyPr>
          <a:lstStyle>
            <a:lvl1pPr marL="0" indent="0" algn="ctr">
              <a:buNone/>
              <a:defRPr sz="150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001F6B2-25AA-4F49-8B29-A540EB52E9E6}" type="datetimeFigureOut">
              <a:rPr lang="en-IN" smtClean="0"/>
              <a:t>05-02-2025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937393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48"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00450"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1F6B2-25AA-4F49-8B29-A540EB52E9E6}"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23661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14350"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0" y="3542088"/>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00321"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600321" y="3542085"/>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01F6B2-25AA-4F49-8B29-A540EB52E9E6}" type="datetimeFigureOut">
              <a:rPr lang="en-IN" smtClean="0"/>
              <a:t>05-02-2025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3105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1F6B2-25AA-4F49-8B29-A540EB52E9E6}" type="datetimeFigureOut">
              <a:rPr lang="en-IN" smtClean="0"/>
              <a:t>05-02-2025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78012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1F6B2-25AA-4F49-8B29-A540EB52E9E6}" type="datetimeFigureOut">
              <a:rPr lang="en-IN" smtClean="0"/>
              <a:t>05-02-2025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327213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14350" y="2865120"/>
            <a:ext cx="3429000" cy="512064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419426" y="2863317"/>
            <a:ext cx="1920240" cy="4576425"/>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471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514350" y="2948659"/>
            <a:ext cx="3566160" cy="5120640"/>
          </a:xfrm>
          <a:solidFill>
            <a:schemeClr val="tx2">
              <a:lumMod val="60000"/>
              <a:lumOff val="40000"/>
            </a:schemeClr>
          </a:solidFill>
        </p:spPr>
        <p:txBody>
          <a:bodyPr tIns="365760" anchor="t"/>
          <a:lstStyle>
            <a:lvl1pPr marL="0" indent="0" algn="ctr">
              <a:buNone/>
              <a:defRPr sz="2400">
                <a:solidFill>
                  <a:schemeClr val="tx1">
                    <a:lumMod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414013" y="2867495"/>
            <a:ext cx="1920240" cy="4572000"/>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05-02-2025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403214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05-02-2025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74473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073363" y="0"/>
            <a:ext cx="1543050" cy="914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5152851" y="812800"/>
            <a:ext cx="1351339" cy="7518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812800"/>
            <a:ext cx="4484976" cy="751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8563808"/>
            <a:ext cx="1543048" cy="486833"/>
          </a:xfrm>
        </p:spPr>
        <p:txBody>
          <a:bodyPr/>
          <a:lstStyle/>
          <a:p>
            <a:fld id="{7001F6B2-25AA-4F49-8B29-A540EB52E9E6}" type="datetimeFigureOut">
              <a:rPr lang="en-IN" smtClean="0"/>
              <a:t>05-02-2025</a:t>
            </a:fld>
            <a:endParaRPr lang="en-IN"/>
          </a:p>
        </p:txBody>
      </p:sp>
      <p:sp>
        <p:nvSpPr>
          <p:cNvPr id="5" name="Footer Placeholder 4"/>
          <p:cNvSpPr>
            <a:spLocks noGrp="1"/>
          </p:cNvSpPr>
          <p:nvPr>
            <p:ph type="ftr" sz="quarter" idx="11"/>
          </p:nvPr>
        </p:nvSpPr>
        <p:spPr>
          <a:xfrm>
            <a:off x="2124077" y="8563808"/>
            <a:ext cx="2407314" cy="486833"/>
          </a:xfrm>
        </p:spPr>
        <p:txBody>
          <a:bodyPr/>
          <a:lstStyle/>
          <a:p>
            <a:endParaRPr lang="en-IN"/>
          </a:p>
        </p:txBody>
      </p:sp>
      <p:sp>
        <p:nvSpPr>
          <p:cNvPr id="6" name="Slide Number Placeholder 5"/>
          <p:cNvSpPr>
            <a:spLocks noGrp="1"/>
          </p:cNvSpPr>
          <p:nvPr>
            <p:ph type="sldNum" sz="quarter" idx="12"/>
          </p:nvPr>
        </p:nvSpPr>
        <p:spPr>
          <a:xfrm>
            <a:off x="4541091" y="8563808"/>
            <a:ext cx="494864" cy="486833"/>
          </a:xfrm>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4691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33731" y="7645246"/>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6858000" cy="623449"/>
          </a:xfrm>
          <a:prstGeom prst="rect">
            <a:avLst/>
          </a:prstGeom>
          <a:noFill/>
          <a:ln>
            <a:noFill/>
          </a:ln>
        </p:spPr>
      </p:pic>
    </p:spTree>
    <p:extLst>
      <p:ext uri="{BB962C8B-B14F-4D97-AF65-F5344CB8AC3E}">
        <p14:creationId xmlns:p14="http://schemas.microsoft.com/office/powerpoint/2010/main" val="1599113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33736" y="1963818"/>
            <a:ext cx="6390529" cy="2321727"/>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177"/>
            </a:lvl2pPr>
            <a:lvl3pPr lvl="2" algn="ctr" rtl="0">
              <a:spcBef>
                <a:spcPts val="0"/>
              </a:spcBef>
              <a:spcAft>
                <a:spcPts val="0"/>
              </a:spcAft>
              <a:buSzPts val="3600"/>
              <a:buNone/>
              <a:defRPr sz="3177"/>
            </a:lvl3pPr>
            <a:lvl4pPr lvl="3" algn="ctr" rtl="0">
              <a:spcBef>
                <a:spcPts val="0"/>
              </a:spcBef>
              <a:spcAft>
                <a:spcPts val="0"/>
              </a:spcAft>
              <a:buSzPts val="3600"/>
              <a:buNone/>
              <a:defRPr sz="3177"/>
            </a:lvl4pPr>
            <a:lvl5pPr lvl="4" algn="ctr" rtl="0">
              <a:spcBef>
                <a:spcPts val="0"/>
              </a:spcBef>
              <a:spcAft>
                <a:spcPts val="0"/>
              </a:spcAft>
              <a:buSzPts val="3600"/>
              <a:buNone/>
              <a:defRPr sz="3177"/>
            </a:lvl5pPr>
            <a:lvl6pPr lvl="5" algn="ctr" rtl="0">
              <a:spcBef>
                <a:spcPts val="0"/>
              </a:spcBef>
              <a:spcAft>
                <a:spcPts val="0"/>
              </a:spcAft>
              <a:buSzPts val="3600"/>
              <a:buNone/>
              <a:defRPr sz="3177"/>
            </a:lvl6pPr>
            <a:lvl7pPr lvl="6" algn="ctr" rtl="0">
              <a:spcBef>
                <a:spcPts val="0"/>
              </a:spcBef>
              <a:spcAft>
                <a:spcPts val="0"/>
              </a:spcAft>
              <a:buSzPts val="3600"/>
              <a:buNone/>
              <a:defRPr sz="3177"/>
            </a:lvl7pPr>
            <a:lvl8pPr lvl="7" algn="ctr" rtl="0">
              <a:spcBef>
                <a:spcPts val="0"/>
              </a:spcBef>
              <a:spcAft>
                <a:spcPts val="0"/>
              </a:spcAft>
              <a:buSzPts val="3600"/>
              <a:buNone/>
              <a:defRPr sz="3177"/>
            </a:lvl8pPr>
            <a:lvl9pPr lvl="8" algn="ctr" rtl="0">
              <a:spcBef>
                <a:spcPts val="0"/>
              </a:spcBef>
              <a:spcAft>
                <a:spcPts val="0"/>
              </a:spcAft>
              <a:buSzPts val="3600"/>
              <a:buNone/>
              <a:defRPr sz="3177"/>
            </a:lvl9pPr>
          </a:lstStyle>
          <a:p>
            <a:endParaRPr/>
          </a:p>
        </p:txBody>
      </p:sp>
      <p:pic>
        <p:nvPicPr>
          <p:cNvPr id="16" name="Google Shape;16;p3"/>
          <p:cNvPicPr preferRelativeResize="0"/>
          <p:nvPr/>
        </p:nvPicPr>
        <p:blipFill>
          <a:blip r:embed="rId2">
            <a:alphaModFix/>
          </a:blip>
          <a:stretch>
            <a:fillRect/>
          </a:stretch>
        </p:blipFill>
        <p:spPr>
          <a:xfrm>
            <a:off x="6194293" y="140273"/>
            <a:ext cx="468000" cy="482182"/>
          </a:xfrm>
          <a:prstGeom prst="rect">
            <a:avLst/>
          </a:prstGeom>
          <a:noFill/>
          <a:ln>
            <a:noFill/>
          </a:ln>
        </p:spPr>
      </p:pic>
      <p:pic>
        <p:nvPicPr>
          <p:cNvPr id="17" name="Google Shape;17;p3"/>
          <p:cNvPicPr preferRelativeResize="0"/>
          <p:nvPr/>
        </p:nvPicPr>
        <p:blipFill>
          <a:blip r:embed="rId3">
            <a:alphaModFix/>
          </a:blip>
          <a:stretch>
            <a:fillRect/>
          </a:stretch>
        </p:blipFill>
        <p:spPr>
          <a:xfrm>
            <a:off x="738640" y="4147000"/>
            <a:ext cx="924485" cy="138545"/>
          </a:xfrm>
          <a:prstGeom prst="rect">
            <a:avLst/>
          </a:prstGeom>
          <a:noFill/>
          <a:ln>
            <a:noFill/>
          </a:ln>
        </p:spPr>
      </p:pic>
    </p:spTree>
    <p:extLst>
      <p:ext uri="{BB962C8B-B14F-4D97-AF65-F5344CB8AC3E}">
        <p14:creationId xmlns:p14="http://schemas.microsoft.com/office/powerpoint/2010/main" val="3723343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780132" y="7174524"/>
            <a:ext cx="5297824" cy="1590273"/>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6194293" y="140273"/>
            <a:ext cx="468000" cy="482182"/>
          </a:xfrm>
          <a:prstGeom prst="rect">
            <a:avLst/>
          </a:prstGeom>
          <a:noFill/>
          <a:ln>
            <a:noFill/>
          </a:ln>
        </p:spPr>
      </p:pic>
    </p:spTree>
    <p:extLst>
      <p:ext uri="{BB962C8B-B14F-4D97-AF65-F5344CB8AC3E}">
        <p14:creationId xmlns:p14="http://schemas.microsoft.com/office/powerpoint/2010/main" val="4029371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1668344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udent work slide">
  <p:cSld name="Student work slide">
    <p:bg>
      <p:bgPr>
        <a:solidFill>
          <a:schemeClr val="lt1"/>
        </a:solidFill>
        <a:effectLst/>
      </p:bgPr>
    </p:bg>
    <p:spTree>
      <p:nvGrpSpPr>
        <p:cNvPr id="1" name="Shape 27"/>
        <p:cNvGrpSpPr/>
        <p:nvPr/>
      </p:nvGrpSpPr>
      <p:grpSpPr>
        <a:xfrm>
          <a:off x="0" y="0"/>
          <a:ext cx="0" cy="0"/>
          <a:chOff x="0" y="0"/>
          <a:chExt cx="0" cy="0"/>
        </a:xfrm>
      </p:grpSpPr>
      <p:sp>
        <p:nvSpPr>
          <p:cNvPr id="28" name="Google Shape;28;p6"/>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Char char="●"/>
              <a:defRPr/>
            </a:lvl1pPr>
            <a:lvl2pPr marL="806867" lvl="1" indent="-302575" rtl="0">
              <a:spcBef>
                <a:spcPts val="1412"/>
              </a:spcBef>
              <a:spcAft>
                <a:spcPts val="0"/>
              </a:spcAft>
              <a:buSzPts val="1800"/>
              <a:buChar char="○"/>
              <a:defRPr sz="1588"/>
            </a:lvl2pPr>
            <a:lvl3pPr marL="1210300" lvl="2" indent="-302575" rtl="0">
              <a:spcBef>
                <a:spcPts val="1412"/>
              </a:spcBef>
              <a:spcAft>
                <a:spcPts val="0"/>
              </a:spcAft>
              <a:buSzPts val="1800"/>
              <a:buChar char="■"/>
              <a:defRPr sz="1588"/>
            </a:lvl3pPr>
            <a:lvl4pPr marL="1613733" lvl="3" indent="-302575" rtl="0">
              <a:spcBef>
                <a:spcPts val="1412"/>
              </a:spcBef>
              <a:spcAft>
                <a:spcPts val="0"/>
              </a:spcAft>
              <a:buSzPts val="1800"/>
              <a:buChar char="●"/>
              <a:defRPr sz="1588"/>
            </a:lvl4pPr>
            <a:lvl5pPr marL="2017166" lvl="4" indent="-302575" rtl="0">
              <a:spcBef>
                <a:spcPts val="1412"/>
              </a:spcBef>
              <a:spcAft>
                <a:spcPts val="0"/>
              </a:spcAft>
              <a:buSzPts val="1800"/>
              <a:buChar char="○"/>
              <a:defRPr sz="1588"/>
            </a:lvl5pPr>
            <a:lvl6pPr marL="2420600" lvl="5" indent="-302575" rtl="0">
              <a:spcBef>
                <a:spcPts val="1412"/>
              </a:spcBef>
              <a:spcAft>
                <a:spcPts val="0"/>
              </a:spcAft>
              <a:buSzPts val="1800"/>
              <a:buChar char="■"/>
              <a:defRPr sz="1588"/>
            </a:lvl6pPr>
            <a:lvl7pPr marL="2824033" lvl="6" indent="-302575" rtl="0">
              <a:spcBef>
                <a:spcPts val="1412"/>
              </a:spcBef>
              <a:spcAft>
                <a:spcPts val="0"/>
              </a:spcAft>
              <a:buSzPts val="1800"/>
              <a:buChar char="●"/>
              <a:defRPr sz="1588"/>
            </a:lvl7pPr>
            <a:lvl8pPr marL="3227466" lvl="7" indent="-302575" rtl="0">
              <a:spcBef>
                <a:spcPts val="1412"/>
              </a:spcBef>
              <a:spcAft>
                <a:spcPts val="0"/>
              </a:spcAft>
              <a:buSzPts val="1800"/>
              <a:buChar char="○"/>
              <a:defRPr sz="1588"/>
            </a:lvl8pPr>
            <a:lvl9pPr marL="3630900" lvl="8" indent="-302575" rtl="0">
              <a:spcBef>
                <a:spcPts val="1412"/>
              </a:spcBef>
              <a:spcAft>
                <a:spcPts val="1412"/>
              </a:spcAft>
              <a:buSzPts val="1800"/>
              <a:buChar char="■"/>
              <a:defRPr sz="1588"/>
            </a:lvl9pPr>
          </a:lstStyle>
          <a:p>
            <a:endParaRPr/>
          </a:p>
        </p:txBody>
      </p:sp>
      <p:pic>
        <p:nvPicPr>
          <p:cNvPr id="29" name="Google Shape;29;p6"/>
          <p:cNvPicPr preferRelativeResize="0"/>
          <p:nvPr/>
        </p:nvPicPr>
        <p:blipFill rotWithShape="1">
          <a:blip r:embed="rId2">
            <a:alphaModFix/>
          </a:blip>
          <a:srcRect/>
          <a:stretch/>
        </p:blipFill>
        <p:spPr>
          <a:xfrm>
            <a:off x="6194293" y="140273"/>
            <a:ext cx="468000" cy="482182"/>
          </a:xfrm>
          <a:prstGeom prst="rect">
            <a:avLst/>
          </a:prstGeom>
          <a:noFill/>
          <a:ln>
            <a:noFill/>
          </a:ln>
        </p:spPr>
      </p:pic>
      <p:sp>
        <p:nvSpPr>
          <p:cNvPr id="30" name="Google Shape;30;p6"/>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2B3E4"/>
              </a:buClr>
              <a:buSzPts val="3200"/>
              <a:buFont typeface="Open Sans Light"/>
              <a:buNone/>
              <a:defRPr sz="2824">
                <a:solidFill>
                  <a:srgbClr val="02B3E4"/>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316916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71" y="234813"/>
            <a:ext cx="6856286" cy="21945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513764" y="378901"/>
            <a:ext cx="5829300" cy="2011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764" y="2682240"/>
            <a:ext cx="5829300" cy="5608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1168" y="8563808"/>
            <a:ext cx="1946282" cy="486833"/>
          </a:xfrm>
          <a:prstGeom prst="rect">
            <a:avLst/>
          </a:prstGeom>
        </p:spPr>
        <p:txBody>
          <a:bodyPr vert="horz" lIns="91440" tIns="45720" rIns="45720" bIns="45720" rtlCol="0" anchor="ctr"/>
          <a:lstStyle>
            <a:lvl1pPr algn="l">
              <a:defRPr sz="788">
                <a:solidFill>
                  <a:schemeClr val="tx1"/>
                </a:solidFill>
              </a:defRPr>
            </a:lvl1pPr>
          </a:lstStyle>
          <a:p>
            <a:fld id="{7001F6B2-25AA-4F49-8B29-A540EB52E9E6}" type="datetimeFigureOut">
              <a:rPr lang="en-IN" smtClean="0"/>
              <a:t>05-02-2025</a:t>
            </a:fld>
            <a:endParaRPr lang="en-IN"/>
          </a:p>
        </p:txBody>
      </p:sp>
      <p:sp>
        <p:nvSpPr>
          <p:cNvPr id="5" name="Footer Placeholder 4"/>
          <p:cNvSpPr>
            <a:spLocks noGrp="1"/>
          </p:cNvSpPr>
          <p:nvPr>
            <p:ph type="ftr" sz="quarter" idx="3"/>
          </p:nvPr>
        </p:nvSpPr>
        <p:spPr>
          <a:xfrm>
            <a:off x="3143251" y="8563808"/>
            <a:ext cx="3045470" cy="486833"/>
          </a:xfrm>
          <a:prstGeom prst="rect">
            <a:avLst/>
          </a:prstGeom>
        </p:spPr>
        <p:txBody>
          <a:bodyPr vert="horz" lIns="91440" tIns="45720" rIns="91440" bIns="45720" rtlCol="0" anchor="ctr"/>
          <a:lstStyle>
            <a:lvl1pPr algn="r">
              <a:defRPr sz="788">
                <a:solidFill>
                  <a:schemeClr val="tx1"/>
                </a:solidFill>
              </a:defRPr>
            </a:lvl1pPr>
          </a:lstStyle>
          <a:p>
            <a:endParaRPr lang="en-IN"/>
          </a:p>
        </p:txBody>
      </p:sp>
      <p:sp>
        <p:nvSpPr>
          <p:cNvPr id="6" name="Slide Number Placeholder 5"/>
          <p:cNvSpPr>
            <a:spLocks noGrp="1"/>
          </p:cNvSpPr>
          <p:nvPr>
            <p:ph type="sldNum" sz="quarter" idx="4"/>
          </p:nvPr>
        </p:nvSpPr>
        <p:spPr>
          <a:xfrm>
            <a:off x="6198854" y="8563808"/>
            <a:ext cx="532274" cy="486833"/>
          </a:xfrm>
          <a:prstGeom prst="rect">
            <a:avLst/>
          </a:prstGeom>
        </p:spPr>
        <p:txBody>
          <a:bodyPr vert="horz" lIns="45720" tIns="45720" rIns="91440" bIns="45720" rtlCol="0" anchor="ctr"/>
          <a:lstStyle>
            <a:lvl1pPr algn="l">
              <a:defRPr sz="900" b="0">
                <a:solidFill>
                  <a:schemeClr val="tx1"/>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6045745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685800" rtl="0" eaLnBrk="1" latinLnBrk="0" hangingPunct="1">
        <a:lnSpc>
          <a:spcPct val="85000"/>
        </a:lnSpc>
        <a:spcBef>
          <a:spcPct val="0"/>
        </a:spcBef>
        <a:buNone/>
        <a:defRPr sz="3000" kern="1200" cap="all" baseline="0">
          <a:solidFill>
            <a:schemeClr val="bg2"/>
          </a:solidFill>
          <a:latin typeface="+mj-lt"/>
          <a:ea typeface="+mj-ea"/>
          <a:cs typeface="+mj-cs"/>
        </a:defRPr>
      </a:lvl1pPr>
    </p:titleStyle>
    <p:bodyStyle>
      <a:lvl1pPr marL="137160" indent="-137160" algn="l" defTabSz="685800" rtl="0" eaLnBrk="1" latinLnBrk="0" hangingPunct="1">
        <a:lnSpc>
          <a:spcPct val="90000"/>
        </a:lnSpc>
        <a:spcBef>
          <a:spcPts val="900"/>
        </a:spcBef>
        <a:spcAft>
          <a:spcPts val="150"/>
        </a:spcAft>
        <a:buClr>
          <a:schemeClr val="tx1"/>
        </a:buClr>
        <a:buFont typeface="Wingdings" pitchFamily="2" charset="2"/>
        <a:buChar char=""/>
        <a:defRPr sz="1650" kern="1200">
          <a:solidFill>
            <a:schemeClr val="tx1"/>
          </a:solidFill>
          <a:latin typeface="+mn-lt"/>
          <a:ea typeface="+mn-ea"/>
          <a:cs typeface="+mn-cs"/>
        </a:defRPr>
      </a:lvl1pPr>
      <a:lvl2pPr marL="308610" indent="-137160" algn="l" defTabSz="685800" rtl="0" eaLnBrk="1" latinLnBrk="0" hangingPunct="1">
        <a:lnSpc>
          <a:spcPct val="90000"/>
        </a:lnSpc>
        <a:spcBef>
          <a:spcPts val="150"/>
        </a:spcBef>
        <a:spcAft>
          <a:spcPts val="300"/>
        </a:spcAft>
        <a:buClr>
          <a:schemeClr val="tx1"/>
        </a:buClr>
        <a:buFont typeface="Wingdings" pitchFamily="2" charset="2"/>
        <a:buChar char=""/>
        <a:defRPr sz="1500" kern="1200">
          <a:solidFill>
            <a:schemeClr val="tx1"/>
          </a:solidFill>
          <a:latin typeface="+mn-lt"/>
          <a:ea typeface="+mn-ea"/>
          <a:cs typeface="+mn-cs"/>
        </a:defRPr>
      </a:lvl2pPr>
      <a:lvl3pPr marL="480060" indent="-137160" algn="l" defTabSz="685800" rtl="0" eaLnBrk="1" latinLnBrk="0" hangingPunct="1">
        <a:lnSpc>
          <a:spcPct val="90000"/>
        </a:lnSpc>
        <a:spcBef>
          <a:spcPts val="150"/>
        </a:spcBef>
        <a:spcAft>
          <a:spcPts val="300"/>
        </a:spcAft>
        <a:buClr>
          <a:schemeClr val="tx1"/>
        </a:buClr>
        <a:buFont typeface="Wingdings" pitchFamily="2" charset="2"/>
        <a:buChar char=""/>
        <a:defRPr sz="1350" kern="1200">
          <a:solidFill>
            <a:schemeClr val="tx1"/>
          </a:solidFill>
          <a:latin typeface="+mn-lt"/>
          <a:ea typeface="+mn-ea"/>
          <a:cs typeface="+mn-cs"/>
        </a:defRPr>
      </a:lvl3pPr>
      <a:lvl4pPr marL="65151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4pPr>
      <a:lvl5pPr marL="82296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5pPr>
      <a:lvl6pPr marL="9634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6pPr>
      <a:lvl7pPr marL="11038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7pPr>
      <a:lvl8pPr marL="12217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8pPr>
      <a:lvl9pPr marL="13546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lvl="0" algn="r" rtl="0">
              <a:buNone/>
              <a:defRPr sz="882">
                <a:solidFill>
                  <a:schemeClr val="dk2"/>
                </a:solidFill>
              </a:defRPr>
            </a:lvl1pPr>
            <a:lvl2pPr lvl="1" algn="r" rtl="0">
              <a:buNone/>
              <a:defRPr sz="882">
                <a:solidFill>
                  <a:schemeClr val="dk2"/>
                </a:solidFill>
              </a:defRPr>
            </a:lvl2pPr>
            <a:lvl3pPr lvl="2" algn="r" rtl="0">
              <a:buNone/>
              <a:defRPr sz="882">
                <a:solidFill>
                  <a:schemeClr val="dk2"/>
                </a:solidFill>
              </a:defRPr>
            </a:lvl3pPr>
            <a:lvl4pPr lvl="3" algn="r" rtl="0">
              <a:buNone/>
              <a:defRPr sz="882">
                <a:solidFill>
                  <a:schemeClr val="dk2"/>
                </a:solidFill>
              </a:defRPr>
            </a:lvl4pPr>
            <a:lvl5pPr lvl="4" algn="r" rtl="0">
              <a:buNone/>
              <a:defRPr sz="882">
                <a:solidFill>
                  <a:schemeClr val="dk2"/>
                </a:solidFill>
              </a:defRPr>
            </a:lvl5pPr>
            <a:lvl6pPr lvl="5" algn="r" rtl="0">
              <a:buNone/>
              <a:defRPr sz="882">
                <a:solidFill>
                  <a:schemeClr val="dk2"/>
                </a:solidFill>
              </a:defRPr>
            </a:lvl6pPr>
            <a:lvl7pPr lvl="6" algn="r" rtl="0">
              <a:buNone/>
              <a:defRPr sz="882">
                <a:solidFill>
                  <a:schemeClr val="dk2"/>
                </a:solidFill>
              </a:defRPr>
            </a:lvl7pPr>
            <a:lvl8pPr lvl="7" algn="r" rtl="0">
              <a:buNone/>
              <a:defRPr sz="882">
                <a:solidFill>
                  <a:schemeClr val="dk2"/>
                </a:solidFill>
              </a:defRPr>
            </a:lvl8pPr>
            <a:lvl9pPr lvl="8" algn="r" rtl="0">
              <a:buNone/>
              <a:defRPr sz="882">
                <a:solidFill>
                  <a:schemeClr val="dk2"/>
                </a:solidFill>
              </a:defRPr>
            </a:lvl9pPr>
          </a:lstStyle>
          <a:p>
            <a:fld id="{00000000-1234-1234-1234-123412341234}" type="slidenum">
              <a:rPr lang="en" smtClean="0"/>
              <a:pPr/>
              <a:t>‹#›</a:t>
            </a:fld>
            <a:endParaRPr lang="en"/>
          </a:p>
        </p:txBody>
      </p:sp>
      <p:sp>
        <p:nvSpPr>
          <p:cNvPr id="9" name="Google Shape;9;p1"/>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425291354"/>
      </p:ext>
    </p:extLst>
  </p:cSld>
  <p:clrMap bg1="lt1" tx1="dk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1630-0811-4527-B3F7-DDD2796E7E0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8334C46-6152-4895-8528-D35809CE033B}"/>
              </a:ext>
            </a:extLst>
          </p:cNvPr>
          <p:cNvSpPr>
            <a:spLocks noGrp="1"/>
          </p:cNvSpPr>
          <p:nvPr>
            <p:ph type="subTitle" idx="1"/>
          </p:nvPr>
        </p:nvSpPr>
        <p:spPr/>
        <p:txBody>
          <a:bodyPr/>
          <a:lstStyle/>
          <a:p>
            <a:endParaRPr lang="en-IN"/>
          </a:p>
        </p:txBody>
      </p:sp>
      <p:pic>
        <p:nvPicPr>
          <p:cNvPr id="4" name="Google Shape;35;p7">
            <a:extLst>
              <a:ext uri="{FF2B5EF4-FFF2-40B4-BE49-F238E27FC236}">
                <a16:creationId xmlns:a16="http://schemas.microsoft.com/office/drawing/2014/main" id="{BBE7CED8-4D34-49D5-AC83-7B3C4F6A163C}"/>
              </a:ext>
            </a:extLst>
          </p:cNvPr>
          <p:cNvPicPr preferRelativeResize="0"/>
          <p:nvPr/>
        </p:nvPicPr>
        <p:blipFill rotWithShape="1">
          <a:blip r:embed="rId2">
            <a:alphaModFix/>
          </a:blip>
          <a:srcRect l="1606" r="1606"/>
          <a:stretch/>
        </p:blipFill>
        <p:spPr>
          <a:xfrm>
            <a:off x="0" y="1335505"/>
            <a:ext cx="6858000" cy="6473477"/>
          </a:xfrm>
          <a:prstGeom prst="rect">
            <a:avLst/>
          </a:prstGeom>
          <a:noFill/>
          <a:ln>
            <a:noFill/>
          </a:ln>
        </p:spPr>
      </p:pic>
      <p:sp>
        <p:nvSpPr>
          <p:cNvPr id="6" name="Google Shape;36;p7">
            <a:extLst>
              <a:ext uri="{FF2B5EF4-FFF2-40B4-BE49-F238E27FC236}">
                <a16:creationId xmlns:a16="http://schemas.microsoft.com/office/drawing/2014/main" id="{EC02DC39-A980-45DF-8F66-9C4076BBCF2F}"/>
              </a:ext>
            </a:extLst>
          </p:cNvPr>
          <p:cNvSpPr txBox="1">
            <a:spLocks/>
          </p:cNvSpPr>
          <p:nvPr/>
        </p:nvSpPr>
        <p:spPr>
          <a:xfrm>
            <a:off x="86262" y="600989"/>
            <a:ext cx="6685477" cy="1033754"/>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4154" dirty="0">
                <a:solidFill>
                  <a:schemeClr val="tx1"/>
                </a:solidFill>
              </a:rPr>
              <a:t>Compliance Assessment</a:t>
            </a:r>
          </a:p>
        </p:txBody>
      </p:sp>
      <p:sp>
        <p:nvSpPr>
          <p:cNvPr id="7" name="Google Shape;37;p7">
            <a:extLst>
              <a:ext uri="{FF2B5EF4-FFF2-40B4-BE49-F238E27FC236}">
                <a16:creationId xmlns:a16="http://schemas.microsoft.com/office/drawing/2014/main" id="{4BEC11E8-86C9-47B7-8BBA-DA53814D1AFC}"/>
              </a:ext>
            </a:extLst>
          </p:cNvPr>
          <p:cNvSpPr txBox="1">
            <a:spLocks/>
          </p:cNvSpPr>
          <p:nvPr/>
        </p:nvSpPr>
        <p:spPr>
          <a:xfrm>
            <a:off x="86262" y="7668724"/>
            <a:ext cx="6685477" cy="1398185"/>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3692" i="1" dirty="0">
                <a:solidFill>
                  <a:schemeClr val="tx1"/>
                </a:solidFill>
              </a:rPr>
              <a:t>Rishika Sinha</a:t>
            </a:r>
          </a:p>
          <a:p>
            <a:pPr>
              <a:spcBef>
                <a:spcPts val="0"/>
              </a:spcBef>
            </a:pPr>
            <a:r>
              <a:rPr lang="en-IN" sz="3692" i="1" dirty="0">
                <a:solidFill>
                  <a:schemeClr val="tx1"/>
                </a:solidFill>
              </a:rPr>
              <a:t>05/02/2025</a:t>
            </a:r>
          </a:p>
        </p:txBody>
      </p:sp>
    </p:spTree>
    <p:extLst>
      <p:ext uri="{BB962C8B-B14F-4D97-AF65-F5344CB8AC3E}">
        <p14:creationId xmlns:p14="http://schemas.microsoft.com/office/powerpoint/2010/main" val="419371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830997"/>
          </a:xfrm>
          <a:prstGeom prst="rect">
            <a:avLst/>
          </a:prstGeom>
          <a:noFill/>
        </p:spPr>
        <p:txBody>
          <a:bodyPr wrap="square" rtlCol="0">
            <a:spAutoFit/>
          </a:bodyPr>
          <a:lstStyle/>
          <a:p>
            <a:r>
              <a:rPr lang="en-US" sz="4800" dirty="0">
                <a:latin typeface="+mj-lt"/>
              </a:rPr>
              <a:t>Project Scenario</a:t>
            </a:r>
            <a:endParaRPr lang="en-IN" sz="4800" dirty="0">
              <a:latin typeface="+mj-lt"/>
            </a:endParaRPr>
          </a:p>
        </p:txBody>
      </p:sp>
    </p:spTree>
    <p:extLst>
      <p:ext uri="{BB962C8B-B14F-4D97-AF65-F5344CB8AC3E}">
        <p14:creationId xmlns:p14="http://schemas.microsoft.com/office/powerpoint/2010/main" val="209301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Overview</a:t>
            </a:r>
            <a:endParaRPr/>
          </a:p>
        </p:txBody>
      </p:sp>
      <p:sp>
        <p:nvSpPr>
          <p:cNvPr id="55" name="Google Shape;55;p10"/>
          <p:cNvSpPr txBox="1">
            <a:spLocks noGrp="1"/>
          </p:cNvSpPr>
          <p:nvPr>
            <p:ph type="body" idx="1"/>
          </p:nvPr>
        </p:nvSpPr>
        <p:spPr>
          <a:xfrm>
            <a:off x="233696" y="1624500"/>
            <a:ext cx="6390529" cy="5895000"/>
          </a:xfrm>
          <a:prstGeom prst="rect">
            <a:avLst/>
          </a:prstGeom>
        </p:spPr>
        <p:txBody>
          <a:bodyPr spcFirstLastPara="1" wrap="square" lIns="80669" tIns="80669" rIns="80669" bIns="80669" anchor="t" anchorCtr="0">
            <a:noAutofit/>
          </a:bodyPr>
          <a:lstStyle/>
          <a:p>
            <a:pPr marL="0" lvl="0" indent="0" algn="l" rtl="0">
              <a:spcBef>
                <a:spcPts val="0"/>
              </a:spcBef>
              <a:spcAft>
                <a:spcPts val="0"/>
              </a:spcAft>
              <a:buClr>
                <a:schemeClr val="dk1"/>
              </a:buClr>
              <a:buSzPts val="1100"/>
              <a:buFont typeface="Arial"/>
              <a:buNone/>
            </a:pPr>
            <a:r>
              <a:rPr lang="en-US" sz="1600" dirty="0"/>
              <a:t>In the swiftly evolving digital age, Fed F1rst Control Systems stands at the cusp of a significant transformation, pushing the boundaries of cybersecurity to safeguard its technological frontier. As the organization embarks on integrating cutting-edge tools and technologies, from Windows environments to the inclusion of MacBooks, and ventures deeper into the cloud, the role of a security engineer has never been more pivotal. Amidst this backdrop, you, as a security engineer, are thrust into the heart of this transformation. </a:t>
            </a:r>
          </a:p>
          <a:p>
            <a:pPr marL="0" lvl="0" indent="0" algn="l" rtl="0">
              <a:spcBef>
                <a:spcPts val="0"/>
              </a:spcBef>
              <a:spcAft>
                <a:spcPts val="0"/>
              </a:spcAft>
              <a:buClr>
                <a:schemeClr val="dk1"/>
              </a:buClr>
              <a:buSzPts val="1100"/>
              <a:buFont typeface="Arial"/>
              <a:buNone/>
            </a:pPr>
            <a:endParaRPr lang="en-US" sz="1600" dirty="0"/>
          </a:p>
          <a:p>
            <a:pPr marL="0" lvl="0" indent="0" algn="l" rtl="0">
              <a:spcBef>
                <a:spcPts val="0"/>
              </a:spcBef>
              <a:spcAft>
                <a:spcPts val="0"/>
              </a:spcAft>
              <a:buClr>
                <a:schemeClr val="dk1"/>
              </a:buClr>
              <a:buSzPts val="1100"/>
              <a:buFont typeface="Arial"/>
              <a:buNone/>
            </a:pPr>
            <a:r>
              <a:rPr lang="en-US" sz="1600" dirty="0"/>
              <a:t>Your mission: to navigate the complexities of digital security, ensuring that every technological advancement—be it through securing desktop environments, fortifying email communications, or aligning with stringent cybersecurity standards—translates into a fortified defense against the cyber threats of tomorrow. Your efforts will not only secure Fed F1rst's digital assets but also shape the very foundation of its future in the digital realm. </a:t>
            </a:r>
          </a:p>
          <a:p>
            <a:pPr marL="0" lvl="0" indent="0" algn="l" rtl="0">
              <a:spcBef>
                <a:spcPts val="0"/>
              </a:spcBef>
              <a:spcAft>
                <a:spcPts val="0"/>
              </a:spcAft>
              <a:buClr>
                <a:schemeClr val="dk1"/>
              </a:buClr>
              <a:buSzPts val="1100"/>
              <a:buFont typeface="Arial"/>
              <a:buNone/>
            </a:pPr>
            <a:endParaRPr lang="en-US" sz="1600" dirty="0"/>
          </a:p>
          <a:p>
            <a:pPr marL="0" lvl="0" indent="0" algn="l" rtl="0">
              <a:spcBef>
                <a:spcPts val="0"/>
              </a:spcBef>
              <a:spcAft>
                <a:spcPts val="0"/>
              </a:spcAft>
              <a:buClr>
                <a:schemeClr val="dk1"/>
              </a:buClr>
              <a:buSzPts val="1100"/>
              <a:buFont typeface="Arial"/>
              <a:buNone/>
            </a:pPr>
            <a:r>
              <a:rPr lang="en-US" sz="1600" dirty="0"/>
              <a:t>Welcome to the forefront of cybersecurity at Fed F1rst Control Systems, where your expertise is the key to unlocking a secure, innovative future.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rPr>
              <a:t>Developing a Hardening Strategy</a:t>
            </a:r>
          </a:p>
        </p:txBody>
      </p:sp>
    </p:spTree>
    <p:extLst>
      <p:ext uri="{BB962C8B-B14F-4D97-AF65-F5344CB8AC3E}">
        <p14:creationId xmlns:p14="http://schemas.microsoft.com/office/powerpoint/2010/main" val="1512790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Windows 10 Hardening</a:t>
            </a:r>
            <a:endParaRPr dirty="0"/>
          </a:p>
        </p:txBody>
      </p:sp>
      <p:sp>
        <p:nvSpPr>
          <p:cNvPr id="67" name="Google Shape;67;p12"/>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Clr>
                <a:schemeClr val="dk1"/>
              </a:buClr>
              <a:buSzPts val="1100"/>
              <a:buNone/>
            </a:pPr>
            <a:r>
              <a:rPr lang="en" dirty="0"/>
              <a:t>In the dynamic environment of Fed F1rst Control Systems, maintaining the security integrity of desktop environments is crucial to safeguard corporate data and ensure uninterrupted business operations. As part of your responsibilities, you are required to conduct a comprehensive security review of a Windows 10 desktop. This task involves identifying vulnerabilities that could potentially compromise system security and proposing actionable remediation steps to mitigate these risks.</a:t>
            </a:r>
            <a:endParaRPr dirty="0"/>
          </a:p>
          <a:p>
            <a:pPr marL="0" indent="0">
              <a:buClr>
                <a:schemeClr val="dk1"/>
              </a:buClr>
              <a:buSzPts val="1100"/>
              <a:buNone/>
            </a:pPr>
            <a:endParaRPr dirty="0"/>
          </a:p>
          <a:p>
            <a:r>
              <a:rPr lang="en" i="1" dirty="0"/>
              <a:t>Perform a thorough security analysis focusing on key areas such as system updates, user permissions, antivirus status, firewall settings, and third-party applications</a:t>
            </a:r>
            <a:endParaRPr i="1" dirty="0"/>
          </a:p>
          <a:p>
            <a:r>
              <a:rPr lang="en" b="1" i="1" dirty="0">
                <a:latin typeface="Open Sans"/>
                <a:ea typeface="Open Sans"/>
                <a:cs typeface="Open Sans"/>
                <a:sym typeface="Open Sans"/>
              </a:rPr>
              <a:t>Identify 6 specific security issues</a:t>
            </a:r>
            <a:r>
              <a:rPr lang="en" i="1" dirty="0"/>
              <a:t> that pose a risk to the system's integrity</a:t>
            </a:r>
            <a:endParaRPr i="1" dirty="0"/>
          </a:p>
          <a:p>
            <a:r>
              <a:rPr lang="en" i="1" dirty="0"/>
              <a:t>For each identified issue, provide a detailed remediation strategy to address and resolve the vulnerability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Windows 10/11 Hardening</a:t>
            </a:r>
            <a:endParaRPr dirty="0"/>
          </a:p>
        </p:txBody>
      </p:sp>
      <p:sp>
        <p:nvSpPr>
          <p:cNvPr id="73" name="Google Shape;73;p13"/>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dirty="0"/>
              <a:t>Many parts can be hardened in Windows 10, but it can be challenging to find them. You can find the way to 10 different settings:</a:t>
            </a:r>
            <a:endParaRPr dirty="0"/>
          </a:p>
          <a:p>
            <a:pPr marL="0" indent="0">
              <a:buNone/>
            </a:pPr>
            <a:endParaRPr dirty="0"/>
          </a:p>
          <a:p>
            <a:pPr indent="-285765">
              <a:buSzPts val="1500"/>
            </a:pPr>
            <a:r>
              <a:rPr lang="en" sz="1324" b="1" dirty="0">
                <a:latin typeface="Open Sans"/>
                <a:ea typeface="Open Sans"/>
                <a:cs typeface="Open Sans"/>
                <a:sym typeface="Open Sans"/>
              </a:rPr>
              <a:t>System Updates: </a:t>
            </a:r>
            <a:r>
              <a:rPr lang="en" sz="1324" dirty="0"/>
              <a:t>Settings &gt; Update &amp; Security &gt; Windows Update</a:t>
            </a:r>
            <a:endParaRPr sz="1324" dirty="0"/>
          </a:p>
          <a:p>
            <a:pPr indent="-285765">
              <a:buSzPts val="1500"/>
            </a:pPr>
            <a:r>
              <a:rPr lang="en" sz="1324" b="1" dirty="0">
                <a:latin typeface="Open Sans"/>
                <a:ea typeface="Open Sans"/>
                <a:cs typeface="Open Sans"/>
                <a:sym typeface="Open Sans"/>
              </a:rPr>
              <a:t>Antivirus Status: </a:t>
            </a:r>
            <a:r>
              <a:rPr lang="en" sz="1324" dirty="0"/>
              <a:t>Settings &gt; Update &amp; Security &gt; Windows Security &gt; Virus &amp; threat protection</a:t>
            </a:r>
            <a:endParaRPr sz="1324" dirty="0"/>
          </a:p>
          <a:p>
            <a:pPr indent="-285765">
              <a:buSzPts val="1500"/>
            </a:pPr>
            <a:r>
              <a:rPr lang="en" sz="1324" b="1" dirty="0">
                <a:latin typeface="Open Sans"/>
                <a:ea typeface="Open Sans"/>
                <a:cs typeface="Open Sans"/>
                <a:sym typeface="Open Sans"/>
              </a:rPr>
              <a:t>Firewall Settings:</a:t>
            </a:r>
            <a:r>
              <a:rPr lang="en" sz="1324" dirty="0"/>
              <a:t> Control Panel &gt; System and Security &gt; Windows Defender Firewall</a:t>
            </a:r>
            <a:endParaRPr sz="1324" dirty="0"/>
          </a:p>
          <a:p>
            <a:pPr indent="-285765">
              <a:buSzPts val="1500"/>
            </a:pPr>
            <a:r>
              <a:rPr lang="en" sz="1324" b="1" dirty="0">
                <a:latin typeface="Open Sans"/>
                <a:ea typeface="Open Sans"/>
                <a:cs typeface="Open Sans"/>
                <a:sym typeface="Open Sans"/>
              </a:rPr>
              <a:t>AutoRun/AutoPlay:</a:t>
            </a:r>
            <a:r>
              <a:rPr lang="en" sz="1324" dirty="0"/>
              <a:t> Control Panel &gt; Hardware and Sound &gt; AutoPlay</a:t>
            </a:r>
            <a:endParaRPr sz="1324" dirty="0"/>
          </a:p>
          <a:p>
            <a:pPr indent="-285765">
              <a:buSzPts val="1500"/>
            </a:pPr>
            <a:r>
              <a:rPr lang="en" sz="1324" b="1" dirty="0">
                <a:latin typeface="Open Sans"/>
                <a:ea typeface="Open Sans"/>
                <a:cs typeface="Open Sans"/>
                <a:sym typeface="Open Sans"/>
              </a:rPr>
              <a:t>User Account Control settings:</a:t>
            </a:r>
            <a:r>
              <a:rPr lang="en" sz="1324" dirty="0"/>
              <a:t> Control Panel &gt; User Accounts &gt; User Accounts &gt; Change User Account Control settings</a:t>
            </a:r>
            <a:endParaRPr sz="1324" dirty="0"/>
          </a:p>
          <a:p>
            <a:pPr indent="-285765">
              <a:buSzPts val="1500"/>
            </a:pPr>
            <a:r>
              <a:rPr lang="en" sz="1324" b="1" dirty="0">
                <a:latin typeface="Open Sans"/>
                <a:ea typeface="Open Sans"/>
                <a:cs typeface="Open Sans"/>
                <a:sym typeface="Open Sans"/>
              </a:rPr>
              <a:t>Password Policies:</a:t>
            </a:r>
            <a:r>
              <a:rPr lang="en" sz="1324" dirty="0"/>
              <a:t> Type in `gpedit.msc` in a CLI, then navigate to Computer Configuration &gt; Windows Settings &gt; Security Settings &gt; Account Policies &gt; Password Policy</a:t>
            </a:r>
            <a:endParaRPr sz="1324" dirty="0"/>
          </a:p>
          <a:p>
            <a:pPr indent="-285765">
              <a:buSzPts val="1500"/>
            </a:pPr>
            <a:r>
              <a:rPr lang="en" sz="1324" b="1" dirty="0">
                <a:latin typeface="Open Sans"/>
                <a:ea typeface="Open Sans"/>
                <a:cs typeface="Open Sans"/>
                <a:sym typeface="Open Sans"/>
              </a:rPr>
              <a:t>Audit Policy (logging): </a:t>
            </a:r>
            <a:r>
              <a:rPr lang="en" sz="1324" dirty="0"/>
              <a:t>Type in `secpol.msc` in a CLI, then navigate to Local Policies &gt; Audit Policy</a:t>
            </a:r>
            <a:endParaRPr sz="1324" dirty="0"/>
          </a:p>
          <a:p>
            <a:pPr indent="-285765">
              <a:buSzPts val="1500"/>
            </a:pPr>
            <a:r>
              <a:rPr lang="en" sz="1324" b="1" dirty="0">
                <a:latin typeface="Open Sans"/>
                <a:ea typeface="Open Sans"/>
                <a:cs typeface="Open Sans"/>
                <a:sym typeface="Open Sans"/>
              </a:rPr>
              <a:t>Guest Account settings</a:t>
            </a:r>
            <a:r>
              <a:rPr lang="en" sz="1324" dirty="0"/>
              <a:t>: Run the command `net user guest` in a CLI</a:t>
            </a:r>
            <a:endParaRPr sz="1324" dirty="0"/>
          </a:p>
          <a:p>
            <a:pPr indent="-285765">
              <a:buSzPts val="1500"/>
            </a:pPr>
            <a:r>
              <a:rPr lang="en" sz="1324" b="1" dirty="0">
                <a:latin typeface="Open Sans"/>
                <a:ea typeface="Open Sans"/>
                <a:cs typeface="Open Sans"/>
                <a:sym typeface="Open Sans"/>
              </a:rPr>
              <a:t>Administrator Account settings: </a:t>
            </a:r>
            <a:r>
              <a:rPr lang="en" sz="1324" dirty="0"/>
              <a:t>Run the command `net user Administrator` in a CLI</a:t>
            </a:r>
            <a:endParaRPr sz="1324" dirty="0"/>
          </a:p>
          <a:p>
            <a:pPr indent="-285765">
              <a:buSzPts val="1500"/>
            </a:pPr>
            <a:r>
              <a:rPr lang="en" sz="1324" b="1" dirty="0">
                <a:latin typeface="Open Sans"/>
                <a:ea typeface="Open Sans"/>
                <a:cs typeface="Open Sans"/>
                <a:sym typeface="Open Sans"/>
              </a:rPr>
              <a:t>BitLocker Drive Encryption: </a:t>
            </a:r>
            <a:r>
              <a:rPr lang="en" sz="1324" dirty="0"/>
              <a:t>Right-click on any system drive in File Explorer</a:t>
            </a:r>
            <a:endParaRPr sz="132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10 Hardening</a:t>
            </a:r>
            <a:endParaRPr/>
          </a:p>
        </p:txBody>
      </p:sp>
      <p:graphicFrame>
        <p:nvGraphicFramePr>
          <p:cNvPr id="79" name="Google Shape;79;p14"/>
          <p:cNvGraphicFramePr/>
          <p:nvPr>
            <p:extLst>
              <p:ext uri="{D42A27DB-BD31-4B8C-83A1-F6EECF244321}">
                <p14:modId xmlns:p14="http://schemas.microsoft.com/office/powerpoint/2010/main" val="1080975746"/>
              </p:ext>
            </p:extLst>
          </p:nvPr>
        </p:nvGraphicFramePr>
        <p:xfrm>
          <a:off x="233736" y="2123074"/>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1. Outdated System Updates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Issue: Missing security patches increase vulnerability to exploits.</a:t>
                      </a:r>
                    </a:p>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Solution: Enable automatic updates:  Settings &gt; Update &amp; Security &gt; Windows Update &gt; Check for updates</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2. Weak or Default Passwords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Issue: Simple passwords make brute-force attacks easier.</a:t>
                      </a:r>
                    </a:p>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Solution: Enforce strong password policies using </a:t>
                      </a:r>
                      <a:r>
                        <a:rPr lang="en-US" sz="1400" dirty="0" err="1">
                          <a:solidFill>
                            <a:srgbClr val="525C65"/>
                          </a:solidFill>
                          <a:latin typeface="Open Sans"/>
                          <a:ea typeface="Open Sans"/>
                          <a:cs typeface="Open Sans"/>
                          <a:sym typeface="Open Sans"/>
                        </a:rPr>
                        <a:t>GroupPolicy</a:t>
                      </a:r>
                      <a:r>
                        <a:rPr lang="en-US" sz="1400" dirty="0">
                          <a:solidFill>
                            <a:srgbClr val="525C65"/>
                          </a:solidFill>
                          <a:latin typeface="Open Sans"/>
                          <a:ea typeface="Open Sans"/>
                          <a:cs typeface="Open Sans"/>
                          <a:sym typeface="Open Sans"/>
                        </a:rPr>
                        <a:t> Editor under Computer Configuration &gt; Windows Settings &gt; Security Settings &gt;Account Policies &gt; Password Policy.</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3. Disabled Firewall</a:t>
                      </a:r>
                      <a:endParaRPr sz="16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Issue: Lack of firewall protection exposes the system to external threats.</a:t>
                      </a:r>
                    </a:p>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Solution: Enable Windows defender Firewall in control panel &gt; System and Security &gt; Windows Defender Firewall.</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10 Hardening</a:t>
            </a:r>
            <a:endParaRPr/>
          </a:p>
        </p:txBody>
      </p:sp>
      <p:graphicFrame>
        <p:nvGraphicFramePr>
          <p:cNvPr id="85" name="Google Shape;85;p15"/>
          <p:cNvGraphicFramePr/>
          <p:nvPr>
            <p:extLst>
              <p:ext uri="{D42A27DB-BD31-4B8C-83A1-F6EECF244321}">
                <p14:modId xmlns:p14="http://schemas.microsoft.com/office/powerpoint/2010/main" val="1040129121"/>
              </p:ext>
            </p:extLst>
          </p:nvPr>
        </p:nvGraphicFramePr>
        <p:xfrm>
          <a:off x="233736" y="2123074"/>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4. Lack of Endpoint Protection</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Issue:  No active antivirus makes the system susceptible to malware.</a:t>
                      </a:r>
                    </a:p>
                    <a:p>
                      <a:pPr marL="0" lvl="0" indent="0" algn="l" rtl="0">
                        <a:spcBef>
                          <a:spcPts val="0"/>
                        </a:spcBef>
                        <a:spcAft>
                          <a:spcPts val="0"/>
                        </a:spcAft>
                        <a:buNone/>
                      </a:pPr>
                      <a:r>
                        <a:rPr lang="en-US" sz="1400" dirty="0">
                          <a:solidFill>
                            <a:srgbClr val="525C65"/>
                          </a:solidFill>
                          <a:latin typeface="Open Sans"/>
                          <a:ea typeface="Open Sans"/>
                          <a:cs typeface="Open Sans"/>
                          <a:sym typeface="Open Sans"/>
                        </a:rPr>
                        <a:t>Solution: Enable Windows Defender Antivirus in Settings &gt; Update &amp; Security &gt; Windows Security &gt; Virus &amp; threat protection.</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5. Unrestricted User Account Privileges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Issue: Users having administrative rights can lead to unauthorized modifications.</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Solution:  Configure User Account Control (UAC) via Control Panel &gt; User Accounts &gt; Change User Account Control settings.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6. AutoRun / AutoPlay Enabled</a:t>
                      </a:r>
                      <a:endParaRPr sz="16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Issue: Automatic execution of external media may introduce malware.</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Solution: Disable AutoRun/AutoPlay via Control Panel &gt; Hardware and Sound &gt; AutoPlay.</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MacOS Hardening</a:t>
            </a:r>
            <a:endParaRPr/>
          </a:p>
        </p:txBody>
      </p:sp>
      <p:sp>
        <p:nvSpPr>
          <p:cNvPr id="91" name="Google Shape;91;p16"/>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324"/>
              </a:spcBef>
              <a:buNone/>
            </a:pPr>
            <a:r>
              <a:rPr lang="en" dirty="0"/>
              <a:t>As Fed F1rst Control Systems embarks on enhancing its workforce productivity tools, the decision to integrate MacBooks into the corporate ecosystem marks a significant technological advancement. Prior to deployment, it is essential to ensure these devices are configured for optimal security to protect sensitive corporate information and maintain compliance with industry standards. Your task is to identify and explain six essential security configurations that must be implemented on the MacBooks before they are distributed to employees, ensuring a secure and efficient work environment.</a:t>
            </a:r>
            <a:endParaRPr dirty="0"/>
          </a:p>
          <a:p>
            <a:pPr indent="-268956">
              <a:spcBef>
                <a:spcPts val="1324"/>
              </a:spcBef>
              <a:buClr>
                <a:srgbClr val="0D0D0D"/>
              </a:buClr>
              <a:buSzPts val="1200"/>
              <a:buFont typeface="Roboto"/>
              <a:buChar char="●"/>
            </a:pPr>
            <a:r>
              <a:rPr lang="en" b="1" dirty="0">
                <a:latin typeface="Open Sans"/>
                <a:ea typeface="Open Sans"/>
                <a:cs typeface="Open Sans"/>
                <a:sym typeface="Open Sans"/>
              </a:rPr>
              <a:t>Identify six security configurations</a:t>
            </a:r>
            <a:r>
              <a:rPr lang="en" dirty="0"/>
              <a:t> that should be applied to MacBooks before they are deployed to employees</a:t>
            </a:r>
            <a:endParaRPr dirty="0"/>
          </a:p>
          <a:p>
            <a:pPr indent="-268956">
              <a:buClr>
                <a:srgbClr val="0D0D0D"/>
              </a:buClr>
              <a:buSzPts val="1200"/>
              <a:buFont typeface="Roboto"/>
              <a:buChar char="●"/>
            </a:pPr>
            <a:r>
              <a:rPr lang="en" dirty="0"/>
              <a:t>For each configuration, provide a rationale explaining its importance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MacOS Hardening</a:t>
            </a:r>
            <a:endParaRPr/>
          </a:p>
        </p:txBody>
      </p:sp>
      <p:graphicFrame>
        <p:nvGraphicFramePr>
          <p:cNvPr id="97" name="Google Shape;97;p17"/>
          <p:cNvGraphicFramePr/>
          <p:nvPr>
            <p:extLst>
              <p:ext uri="{D42A27DB-BD31-4B8C-83A1-F6EECF244321}">
                <p14:modId xmlns:p14="http://schemas.microsoft.com/office/powerpoint/2010/main" val="3457660843"/>
              </p:ext>
            </p:extLst>
          </p:nvPr>
        </p:nvGraphicFramePr>
        <p:xfrm>
          <a:off x="233736" y="2123074"/>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1. Enable FileVault Encryption</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Encrypts the entire drive to prevent unauthorized data access.</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Enable FileVault in System Preferences &gt; Security &amp; Privacy &gt; FileValut.</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2. Activate macOS Firewall</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Prevents unauthorized incoming connections.</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Enable it via System Preferences &gt; Security &amp; Privacy &gt; Firewall.</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3. Require a Strong Password and Automatic Lock</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Prevents unauthorized access to the device.</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Set strong passwords in System references &gt; User &amp; Groups, anf enable auto-lock under System Preferences &gt; Security &amp; Privacy &gt; General.</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MacOS Hardening</a:t>
            </a:r>
            <a:endParaRPr/>
          </a:p>
        </p:txBody>
      </p:sp>
      <p:graphicFrame>
        <p:nvGraphicFramePr>
          <p:cNvPr id="103" name="Google Shape;103;p18"/>
          <p:cNvGraphicFramePr/>
          <p:nvPr>
            <p:extLst>
              <p:ext uri="{D42A27DB-BD31-4B8C-83A1-F6EECF244321}">
                <p14:modId xmlns:p14="http://schemas.microsoft.com/office/powerpoint/2010/main" val="3507232283"/>
              </p:ext>
            </p:extLst>
          </p:nvPr>
        </p:nvGraphicFramePr>
        <p:xfrm>
          <a:off x="233736" y="2123074"/>
          <a:ext cx="6390529" cy="610145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4. Disable Automatic Login and Guest Accounts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20757">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Restricts unauthorized access.</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Disable it via System Preferences &gt; Users &amp; Groups &gt;Login Options.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5. Enable Gatekeeper and X</a:t>
                      </a:r>
                      <a:r>
                        <a:rPr lang="en-IN" sz="1600" b="1" dirty="0">
                          <a:solidFill>
                            <a:srgbClr val="525C65"/>
                          </a:solidFill>
                          <a:latin typeface="Open Sans"/>
                          <a:ea typeface="Open Sans"/>
                          <a:cs typeface="Open Sans"/>
                          <a:sym typeface="Open Sans"/>
                        </a:rPr>
                        <a:t>P</a:t>
                      </a:r>
                      <a:r>
                        <a:rPr lang="en" sz="1600" b="1" dirty="0">
                          <a:solidFill>
                            <a:srgbClr val="525C65"/>
                          </a:solidFill>
                          <a:latin typeface="Open Sans"/>
                          <a:ea typeface="Open Sans"/>
                          <a:cs typeface="Open Sans"/>
                          <a:sym typeface="Open Sans"/>
                        </a:rPr>
                        <a:t>roject</a:t>
                      </a: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602551">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Protects the system by allowing only trusted applications.</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Set security to App Store and identified developers in System Preferences &gt; Security &amp; Privacy &gt; General.</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6. Enable Full Disk Access for Security Applications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762610">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Purpose: Ensures security tools function correctly.</a:t>
                      </a:r>
                    </a:p>
                    <a:p>
                      <a:pPr marL="0" lvl="0" indent="0" algn="l" rtl="0">
                        <a:spcBef>
                          <a:spcPts val="0"/>
                        </a:spcBef>
                        <a:spcAft>
                          <a:spcPts val="0"/>
                        </a:spcAft>
                        <a:buNone/>
                      </a:pPr>
                      <a:r>
                        <a:rPr lang="en" sz="1400" dirty="0">
                          <a:solidFill>
                            <a:srgbClr val="525C65"/>
                          </a:solidFill>
                          <a:latin typeface="Open Sans"/>
                          <a:ea typeface="Open Sans"/>
                          <a:cs typeface="Open Sans"/>
                          <a:sym typeface="Open Sans"/>
                        </a:rPr>
                        <a:t>Confg: Grant full disk access in System Preferences &gt; Security &amp; Privacy &gt; Privacy.</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Create Security Policies</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467847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Email Policy</a:t>
            </a:r>
            <a:endParaRPr/>
          </a:p>
        </p:txBody>
      </p:sp>
      <p:sp>
        <p:nvSpPr>
          <p:cNvPr id="115" name="Google Shape;115;p2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In an era where email is a critical communication tool for businesses, it's equally a prime target for cyber threats, potentially compromising sensitive information. Fed F1rst Control Systems recognizes the importance of securing its email communications to protect against such vulnerabilities. Your task is to contribute to the development of an email policy by specifying five security-related items that should be included. These items will guide employee behavior regarding the use of corporate email systems, aiming to minimize security risks and safeguard company data.</a:t>
            </a:r>
            <a:endParaRPr dirty="0"/>
          </a:p>
          <a:p>
            <a:pPr>
              <a:spcBef>
                <a:spcPts val="1059"/>
              </a:spcBef>
            </a:pPr>
            <a:r>
              <a:rPr lang="en" b="1" dirty="0">
                <a:latin typeface="Open Sans"/>
                <a:ea typeface="Open Sans"/>
                <a:cs typeface="Open Sans"/>
                <a:sym typeface="Open Sans"/>
              </a:rPr>
              <a:t>Identify five security-related items</a:t>
            </a:r>
            <a:r>
              <a:rPr lang="en" dirty="0"/>
              <a:t> that should be included in the company's email policy</a:t>
            </a:r>
            <a:endParaRPr dirty="0"/>
          </a:p>
          <a:p>
            <a:r>
              <a:rPr lang="en" dirty="0"/>
              <a:t>Each item should address a specific aspect or behavior related to email use</a:t>
            </a:r>
            <a:endParaRPr sz="1059" dirty="0">
              <a:solidFill>
                <a:srgbClr val="0D0D0D"/>
              </a:solidFill>
              <a:highlight>
                <a:srgbClr val="FFFFFF"/>
              </a:highlight>
              <a:latin typeface="Roboto"/>
              <a:ea typeface="Roboto"/>
              <a:cs typeface="Roboto"/>
              <a:sym typeface="Roboto"/>
            </a:endParaRPr>
          </a:p>
          <a:p>
            <a:pPr marL="0" indent="0">
              <a:spcBef>
                <a:spcPts val="1324"/>
              </a:spcBef>
              <a:spcAft>
                <a:spcPts val="1324"/>
              </a:spcAft>
              <a:buNone/>
            </a:pPr>
            <a:endParaRPr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IN"/>
              <a:t>Email Policy</a:t>
            </a:r>
          </a:p>
        </p:txBody>
      </p:sp>
      <p:graphicFrame>
        <p:nvGraphicFramePr>
          <p:cNvPr id="121" name="Google Shape;121;p21"/>
          <p:cNvGraphicFramePr/>
          <p:nvPr>
            <p:extLst>
              <p:ext uri="{D42A27DB-BD31-4B8C-83A1-F6EECF244321}">
                <p14:modId xmlns:p14="http://schemas.microsoft.com/office/powerpoint/2010/main" val="1244735171"/>
              </p:ext>
            </p:extLst>
          </p:nvPr>
        </p:nvGraphicFramePr>
        <p:xfrm>
          <a:off x="233780" y="2155434"/>
          <a:ext cx="6390529" cy="5111179"/>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842426">
                <a:tc>
                  <a:txBody>
                    <a:bodyPr/>
                    <a:lstStyle/>
                    <a:p>
                      <a:r>
                        <a:rPr lang="en" sz="1400" dirty="0">
                          <a:solidFill>
                            <a:srgbClr val="525C65"/>
                          </a:solidFill>
                          <a:latin typeface="Open Sans"/>
                          <a:ea typeface="Open Sans"/>
                          <a:cs typeface="Open Sans"/>
                          <a:sym typeface="Open Sans"/>
                        </a:rPr>
                        <a:t>1. </a:t>
                      </a:r>
                      <a:r>
                        <a:rPr lang="en-US" sz="1400" b="1" dirty="0"/>
                        <a:t>Multi-Factor Authentication (MFA) Requirement</a:t>
                      </a:r>
                      <a:endParaRPr lang="en-US" sz="1400" dirty="0"/>
                    </a:p>
                    <a:p>
                      <a:r>
                        <a:rPr lang="en-US" sz="1400" dirty="0"/>
                        <a:t>All users must enable </a:t>
                      </a:r>
                      <a:r>
                        <a:rPr lang="en-US" sz="1400" b="1" dirty="0"/>
                        <a:t>MFA</a:t>
                      </a:r>
                      <a:r>
                        <a:rPr lang="en-US" sz="1400" dirty="0"/>
                        <a:t> for corporate email access to prevent unauthorized logins.</a:t>
                      </a:r>
                    </a:p>
                    <a:p>
                      <a:pPr marL="0" lvl="0" indent="0" algn="l" rtl="0">
                        <a:spcBef>
                          <a:spcPts val="0"/>
                        </a:spcBef>
                        <a:spcAft>
                          <a:spcPts val="0"/>
                        </a:spcAft>
                        <a:buNone/>
                      </a:pP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926162">
                <a:tc>
                  <a:txBody>
                    <a:bodyPr/>
                    <a:lstStyle/>
                    <a:p>
                      <a:r>
                        <a:rPr lang="en" sz="1400" dirty="0">
                          <a:solidFill>
                            <a:srgbClr val="525C65"/>
                          </a:solidFill>
                          <a:latin typeface="Open Sans"/>
                          <a:ea typeface="Open Sans"/>
                          <a:cs typeface="Open Sans"/>
                          <a:sym typeface="Open Sans"/>
                        </a:rPr>
                        <a:t>2. </a:t>
                      </a:r>
                      <a:r>
                        <a:rPr lang="en-US" sz="1400" b="1" dirty="0"/>
                        <a:t>Prohibited External Email Forwarding</a:t>
                      </a:r>
                      <a:endParaRPr lang="en-US" sz="1400" dirty="0"/>
                    </a:p>
                    <a:p>
                      <a:r>
                        <a:rPr lang="en-US" sz="1400" dirty="0"/>
                        <a:t>Users </a:t>
                      </a:r>
                      <a:r>
                        <a:rPr lang="en-US" sz="1400" b="1" dirty="0"/>
                        <a:t>must not</a:t>
                      </a:r>
                      <a:r>
                        <a:rPr lang="en-US" sz="1400" dirty="0"/>
                        <a:t> auto-forward work emails to personal accounts to prevent data leaks.</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041441">
                <a:tc>
                  <a:txBody>
                    <a:bodyPr/>
                    <a:lstStyle/>
                    <a:p>
                      <a:r>
                        <a:rPr lang="en" sz="1400" dirty="0">
                          <a:solidFill>
                            <a:srgbClr val="525C65"/>
                          </a:solidFill>
                          <a:latin typeface="Open Sans"/>
                          <a:ea typeface="Open Sans"/>
                          <a:cs typeface="Open Sans"/>
                          <a:sym typeface="Open Sans"/>
                        </a:rPr>
                        <a:t>3. </a:t>
                      </a:r>
                      <a:r>
                        <a:rPr lang="en-US" sz="1400" b="1" dirty="0"/>
                        <a:t>Email Encryption for Confidential Data</a:t>
                      </a:r>
                      <a:endParaRPr lang="en-US" sz="1400" dirty="0"/>
                    </a:p>
                    <a:p>
                      <a:r>
                        <a:rPr lang="en-US" sz="1400" dirty="0"/>
                        <a:t>Emails containing sensitive information must use </a:t>
                      </a:r>
                      <a:r>
                        <a:rPr lang="en-US" sz="1400" b="1" dirty="0"/>
                        <a:t>end-to-end encryption</a:t>
                      </a:r>
                      <a:r>
                        <a:rPr lang="en-US" sz="1400" dirty="0"/>
                        <a:t> to prevent interception.</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964831">
                <a:tc>
                  <a:txBody>
                    <a:bodyPr/>
                    <a:lstStyle/>
                    <a:p>
                      <a:r>
                        <a:rPr lang="en" sz="1400" dirty="0">
                          <a:solidFill>
                            <a:srgbClr val="525C65"/>
                          </a:solidFill>
                          <a:latin typeface="Open Sans"/>
                          <a:ea typeface="Open Sans"/>
                          <a:cs typeface="Open Sans"/>
                          <a:sym typeface="Open Sans"/>
                        </a:rPr>
                        <a:t>4. </a:t>
                      </a:r>
                      <a:r>
                        <a:rPr lang="en-US" sz="1400" b="1" dirty="0"/>
                        <a:t>Phishing Awareness and Reporting</a:t>
                      </a:r>
                      <a:endParaRPr lang="en-US" sz="1400" dirty="0"/>
                    </a:p>
                    <a:p>
                      <a:r>
                        <a:rPr lang="en-US" sz="1400" dirty="0"/>
                        <a:t>Employees should complete </a:t>
                      </a:r>
                      <a:r>
                        <a:rPr lang="en-US" sz="1400" b="1" dirty="0"/>
                        <a:t>mandatory phishing training</a:t>
                      </a:r>
                      <a:r>
                        <a:rPr lang="en-US" sz="1400" dirty="0"/>
                        <a:t> and report suspicious emails to IT.</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025404">
                <a:tc>
                  <a:txBody>
                    <a:bodyPr/>
                    <a:lstStyle/>
                    <a:p>
                      <a:r>
                        <a:rPr lang="en" sz="1400" dirty="0">
                          <a:solidFill>
                            <a:srgbClr val="525C65"/>
                          </a:solidFill>
                          <a:latin typeface="Open Sans"/>
                          <a:ea typeface="Open Sans"/>
                          <a:cs typeface="Open Sans"/>
                          <a:sym typeface="Open Sans"/>
                        </a:rPr>
                        <a:t>5. </a:t>
                      </a:r>
                      <a:r>
                        <a:rPr lang="en-US" sz="1400" b="1" dirty="0"/>
                        <a:t>Attachment and Link Restrictions</a:t>
                      </a:r>
                      <a:endParaRPr lang="en-US" sz="1400" dirty="0"/>
                    </a:p>
                    <a:p>
                      <a:pPr lvl="1"/>
                      <a:r>
                        <a:rPr lang="en-US" sz="1400" dirty="0"/>
                        <a:t>Prohibit downloading unknown attachments or clicking on unverified links to prevent malware infections.</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BYOD Policy</a:t>
            </a:r>
            <a:endParaRPr dirty="0"/>
          </a:p>
        </p:txBody>
      </p:sp>
      <p:sp>
        <p:nvSpPr>
          <p:cNvPr id="127" name="Google Shape;127;p22"/>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As Fed F1rst Control Systems embraces a Bring Your Own Device (BYOD) policy to enhance flexibility and productivity, the security of corporate data on employee-owned devices becomes a critical concern. These devices, ranging from smartphones to laptops, introduce various security challenges that must be addressed to protect both the company's and employees' information. Your role is to contribute to the development of a robust BYOD policy by writing the Security section. This will ensure that employees can use their own devices without compromising the organization's digital security.</a:t>
            </a:r>
            <a:endParaRPr dirty="0"/>
          </a:p>
          <a:p>
            <a:pPr>
              <a:spcBef>
                <a:spcPts val="1324"/>
              </a:spcBef>
            </a:pPr>
            <a:r>
              <a:rPr lang="en" dirty="0"/>
              <a:t>Draft the </a:t>
            </a:r>
            <a:r>
              <a:rPr lang="en" b="1" dirty="0">
                <a:latin typeface="Open Sans"/>
                <a:ea typeface="Open Sans"/>
                <a:cs typeface="Open Sans"/>
                <a:sym typeface="Open Sans"/>
              </a:rPr>
              <a:t>Security section of the BYOD policy</a:t>
            </a:r>
            <a:endParaRPr dirty="0"/>
          </a:p>
          <a:p>
            <a:r>
              <a:rPr lang="en" dirty="0"/>
              <a:t>Cover Apple and Android smartphones, and Windows 11 and macOS laptops</a:t>
            </a:r>
            <a:endParaRPr dirty="0"/>
          </a:p>
          <a:p>
            <a:r>
              <a:rPr lang="en" dirty="0"/>
              <a:t>Include </a:t>
            </a:r>
            <a:r>
              <a:rPr lang="en" b="1" dirty="0">
                <a:latin typeface="Open Sans"/>
                <a:ea typeface="Open Sans"/>
                <a:cs typeface="Open Sans"/>
                <a:sym typeface="Open Sans"/>
              </a:rPr>
              <a:t>6 security measures</a:t>
            </a:r>
            <a:r>
              <a:rPr lang="en" dirty="0"/>
              <a:t> relevant to these devices</a:t>
            </a:r>
            <a:endParaRPr dirty="0"/>
          </a:p>
          <a:p>
            <a:r>
              <a:rPr lang="en" dirty="0"/>
              <a:t>Focus on diverse security aspects such as access, data protection, and incident management</a:t>
            </a:r>
            <a:endParaRPr dirty="0"/>
          </a:p>
          <a:p>
            <a:pPr marL="0" indent="0">
              <a:spcBef>
                <a:spcPts val="1324"/>
              </a:spcBef>
              <a:spcAft>
                <a:spcPts val="1324"/>
              </a:spcAft>
              <a:buNone/>
            </a:pPr>
            <a:endParaRPr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BYOD Policy</a:t>
            </a:r>
            <a:endParaRPr/>
          </a:p>
        </p:txBody>
      </p:sp>
      <p:graphicFrame>
        <p:nvGraphicFramePr>
          <p:cNvPr id="133" name="Google Shape;133;p23"/>
          <p:cNvGraphicFramePr/>
          <p:nvPr>
            <p:extLst>
              <p:ext uri="{D42A27DB-BD31-4B8C-83A1-F6EECF244321}">
                <p14:modId xmlns:p14="http://schemas.microsoft.com/office/powerpoint/2010/main" val="866228869"/>
              </p:ext>
            </p:extLst>
          </p:nvPr>
        </p:nvGraphicFramePr>
        <p:xfrm>
          <a:off x="231494" y="2155434"/>
          <a:ext cx="6392815" cy="6136583"/>
        </p:xfrm>
        <a:graphic>
          <a:graphicData uri="http://schemas.openxmlformats.org/drawingml/2006/table">
            <a:tbl>
              <a:tblPr>
                <a:noFill/>
              </a:tblPr>
              <a:tblGrid>
                <a:gridCol w="6392815">
                  <a:extLst>
                    <a:ext uri="{9D8B030D-6E8A-4147-A177-3AD203B41FA5}">
                      <a16:colId xmlns:a16="http://schemas.microsoft.com/office/drawing/2014/main" val="20000"/>
                    </a:ext>
                  </a:extLst>
                </a:gridCol>
              </a:tblGrid>
              <a:tr h="842426">
                <a:tc>
                  <a:txBody>
                    <a:bodyPr/>
                    <a:lstStyle/>
                    <a:p>
                      <a:r>
                        <a:rPr lang="en" sz="1400" dirty="0">
                          <a:solidFill>
                            <a:srgbClr val="525C65"/>
                          </a:solidFill>
                          <a:latin typeface="Open Sans"/>
                          <a:ea typeface="Open Sans"/>
                          <a:cs typeface="Open Sans"/>
                          <a:sym typeface="Open Sans"/>
                        </a:rPr>
                        <a:t>1.</a:t>
                      </a:r>
                      <a:r>
                        <a:rPr lang="en-US" sz="1400" b="1" dirty="0"/>
                        <a:t> Device Registration</a:t>
                      </a:r>
                      <a:endParaRPr lang="en-US" sz="1400" dirty="0"/>
                    </a:p>
                    <a:p>
                      <a:r>
                        <a:rPr lang="en-US" sz="1400" dirty="0"/>
                        <a:t>Employees must register personal devices with IT before accessing corporate resources.</a:t>
                      </a:r>
                    </a:p>
                    <a:p>
                      <a:pPr marL="0" lvl="0" indent="0" algn="l" rtl="0">
                        <a:spcBef>
                          <a:spcPts val="0"/>
                        </a:spcBef>
                        <a:spcAft>
                          <a:spcPts val="0"/>
                        </a:spcAft>
                        <a:buNone/>
                      </a:pP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926162">
                <a:tc>
                  <a:txBody>
                    <a:bodyPr/>
                    <a:lstStyle/>
                    <a:p>
                      <a:r>
                        <a:rPr lang="en" sz="1400" dirty="0">
                          <a:solidFill>
                            <a:srgbClr val="525C65"/>
                          </a:solidFill>
                          <a:latin typeface="Open Sans"/>
                          <a:ea typeface="Open Sans"/>
                          <a:cs typeface="Open Sans"/>
                          <a:sym typeface="Open Sans"/>
                        </a:rPr>
                        <a:t>2. </a:t>
                      </a:r>
                      <a:r>
                        <a:rPr lang="en-IN" sz="1400" b="1" dirty="0"/>
                        <a:t>Mandatory Device Encryption</a:t>
                      </a:r>
                      <a:endParaRPr lang="en-IN" sz="1400" dirty="0"/>
                    </a:p>
                    <a:p>
                      <a:r>
                        <a:rPr lang="en-IN" sz="1400" dirty="0"/>
                        <a:t>All employee devices (Windows/macOS laptops, iOS/Android smartphones) must have full-disk encryption enabled.</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041441">
                <a:tc>
                  <a:txBody>
                    <a:bodyPr/>
                    <a:lstStyle/>
                    <a:p>
                      <a:r>
                        <a:rPr lang="en" sz="1400" dirty="0">
                          <a:solidFill>
                            <a:srgbClr val="525C65"/>
                          </a:solidFill>
                          <a:latin typeface="Open Sans"/>
                          <a:ea typeface="Open Sans"/>
                          <a:cs typeface="Open Sans"/>
                          <a:sym typeface="Open Sans"/>
                        </a:rPr>
                        <a:t>3. </a:t>
                      </a:r>
                      <a:r>
                        <a:rPr lang="en-US" sz="1400" b="1" dirty="0"/>
                        <a:t>Remote Wipe Capability</a:t>
                      </a:r>
                      <a:endParaRPr lang="en-US" sz="1400" dirty="0"/>
                    </a:p>
                    <a:p>
                      <a:r>
                        <a:rPr lang="en-US" sz="1400" dirty="0"/>
                        <a:t>IT must have the ability to remotely wipe corporate data from lost or stolen devices.</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964831">
                <a:tc>
                  <a:txBody>
                    <a:bodyPr/>
                    <a:lstStyle/>
                    <a:p>
                      <a:r>
                        <a:rPr lang="en" sz="1400" dirty="0">
                          <a:solidFill>
                            <a:srgbClr val="525C65"/>
                          </a:solidFill>
                          <a:latin typeface="Open Sans"/>
                          <a:ea typeface="Open Sans"/>
                          <a:cs typeface="Open Sans"/>
                          <a:sym typeface="Open Sans"/>
                        </a:rPr>
                        <a:t>4. </a:t>
                      </a:r>
                      <a:r>
                        <a:rPr lang="en-US" sz="1400" b="1" dirty="0"/>
                        <a:t>Use of Company-Approved Security Software</a:t>
                      </a:r>
                      <a:endParaRPr lang="en-US" sz="1400" dirty="0"/>
                    </a:p>
                    <a:p>
                      <a:r>
                        <a:rPr lang="en-US" sz="1400" dirty="0"/>
                        <a:t>Employees must install </a:t>
                      </a:r>
                      <a:r>
                        <a:rPr lang="en-US" sz="1400" b="1" dirty="0"/>
                        <a:t>corporate-approved antivirus and security tools</a:t>
                      </a:r>
                      <a:r>
                        <a:rPr lang="en-US" sz="1400" dirty="0"/>
                        <a:t> on their devices.</a:t>
                      </a:r>
                    </a:p>
                    <a:p>
                      <a:pPr marL="0" lvl="0" indent="0" algn="l" rtl="0">
                        <a:spcBef>
                          <a:spcPts val="0"/>
                        </a:spcBef>
                        <a:spcAft>
                          <a:spcPts val="0"/>
                        </a:spcAft>
                        <a:buNone/>
                      </a:pPr>
                      <a:endParaRPr sz="1400"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025404">
                <a:tc>
                  <a:txBody>
                    <a:bodyPr/>
                    <a:lstStyle/>
                    <a:p>
                      <a:r>
                        <a:rPr lang="en" sz="1400" dirty="0">
                          <a:solidFill>
                            <a:srgbClr val="525C65"/>
                          </a:solidFill>
                          <a:latin typeface="Open Sans"/>
                          <a:ea typeface="Open Sans"/>
                          <a:cs typeface="Open Sans"/>
                          <a:sym typeface="Open Sans"/>
                        </a:rPr>
                        <a:t>5. </a:t>
                      </a:r>
                      <a:r>
                        <a:rPr lang="en-US" sz="1400" b="1" dirty="0"/>
                        <a:t>Restricted Access to Company Data</a:t>
                      </a:r>
                      <a:endParaRPr lang="en-US" sz="1400" dirty="0"/>
                    </a:p>
                    <a:p>
                      <a:r>
                        <a:rPr lang="en-US" sz="1400" dirty="0"/>
                        <a:t>Access to sensitive corporate systems is </a:t>
                      </a:r>
                      <a:r>
                        <a:rPr lang="en-US" sz="1400" b="1" dirty="0"/>
                        <a:t>limited based on device security compliance</a:t>
                      </a:r>
                      <a:r>
                        <a:rPr lang="en-US" sz="1400" dirty="0"/>
                        <a:t>.</a:t>
                      </a:r>
                    </a:p>
                    <a:p>
                      <a:pPr marL="0" lvl="0" indent="0" algn="l" rtl="0">
                        <a:spcBef>
                          <a:spcPts val="0"/>
                        </a:spcBef>
                        <a:spcAft>
                          <a:spcPts val="0"/>
                        </a:spcAft>
                        <a:buNone/>
                      </a:pP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1025404">
                <a:tc>
                  <a:txBody>
                    <a:bodyPr/>
                    <a:lstStyle/>
                    <a:p>
                      <a:r>
                        <a:rPr lang="en" sz="1400" dirty="0">
                          <a:solidFill>
                            <a:srgbClr val="525C65"/>
                          </a:solidFill>
                          <a:latin typeface="Open Sans"/>
                          <a:ea typeface="Open Sans"/>
                          <a:cs typeface="Open Sans"/>
                          <a:sym typeface="Open Sans"/>
                        </a:rPr>
                        <a:t>6. </a:t>
                      </a:r>
                      <a:r>
                        <a:rPr lang="en-US" sz="1400" b="1" dirty="0"/>
                        <a:t>Incident Reporting Requirement</a:t>
                      </a:r>
                      <a:endParaRPr lang="en-US" sz="1400" dirty="0"/>
                    </a:p>
                    <a:p>
                      <a:r>
                        <a:rPr lang="en-US" sz="1400" dirty="0"/>
                        <a:t>Employees must report </a:t>
                      </a:r>
                      <a:r>
                        <a:rPr lang="en-US" sz="1400" b="1" dirty="0"/>
                        <a:t>lost or compromised devices</a:t>
                      </a:r>
                      <a:r>
                        <a:rPr lang="en-US" sz="1400" dirty="0"/>
                        <a:t> within 24 hours to IT.</a:t>
                      </a:r>
                    </a:p>
                    <a:p>
                      <a:pPr marL="0" lvl="0" indent="0" algn="l" rtl="0">
                        <a:spcBef>
                          <a:spcPts val="0"/>
                        </a:spcBef>
                        <a:spcAft>
                          <a:spcPts val="0"/>
                        </a:spcAft>
                        <a:buNone/>
                      </a:pP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Self Assessment</a:t>
            </a:r>
          </a:p>
        </p:txBody>
      </p:sp>
    </p:spTree>
    <p:extLst>
      <p:ext uri="{BB962C8B-B14F-4D97-AF65-F5344CB8AC3E}">
        <p14:creationId xmlns:p14="http://schemas.microsoft.com/office/powerpoint/2010/main" val="2034461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Desktop Compliance</a:t>
            </a:r>
            <a:endParaRPr/>
          </a:p>
        </p:txBody>
      </p:sp>
      <p:sp>
        <p:nvSpPr>
          <p:cNvPr id="145" name="Google Shape;145;p25"/>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None/>
            </a:pPr>
            <a:r>
              <a:rPr lang="en" dirty="0"/>
              <a:t>Maintaining robust security measures across all devices is crucial. As part of the organization's commitment to cybersecurity, adhering to the National Institute of Standards and Technology (NIST) guidelines is a top priority. Your task involves evaluating a Windows 10 desktop against specific </a:t>
            </a:r>
            <a:r>
              <a:rPr lang="en" i="1" dirty="0"/>
              <a:t>NIST SP 800-53 Rev. 5</a:t>
            </a:r>
            <a:r>
              <a:rPr lang="en" dirty="0"/>
              <a:t> controls. This exercise is designed to assess the desktop's compliance with established security standards, ensuring the integrity, confidentiality, and availability of the system's information.</a:t>
            </a:r>
            <a:endParaRPr dirty="0"/>
          </a:p>
          <a:p>
            <a:pPr marL="0" indent="0">
              <a:spcBef>
                <a:spcPts val="1324"/>
              </a:spcBef>
              <a:buNone/>
            </a:pPr>
            <a:endParaRPr dirty="0"/>
          </a:p>
          <a:p>
            <a:pPr>
              <a:spcBef>
                <a:spcPts val="1324"/>
              </a:spcBef>
            </a:pPr>
            <a:r>
              <a:rPr lang="en" b="1" dirty="0">
                <a:latin typeface="Open Sans"/>
                <a:ea typeface="Open Sans"/>
                <a:cs typeface="Open Sans"/>
                <a:sym typeface="Open Sans"/>
              </a:rPr>
              <a:t>Review the provided 14-item list</a:t>
            </a:r>
            <a:r>
              <a:rPr lang="en" dirty="0"/>
              <a:t> from </a:t>
            </a:r>
            <a:r>
              <a:rPr lang="en" i="1" dirty="0"/>
              <a:t>NIST SP 800-53 Rev. 5</a:t>
            </a:r>
            <a:endParaRPr i="1" dirty="0"/>
          </a:p>
          <a:p>
            <a:r>
              <a:rPr lang="en" dirty="0"/>
              <a:t>Evaluate a Windows 10 machine for compliance with each item</a:t>
            </a:r>
            <a:endParaRPr dirty="0"/>
          </a:p>
          <a:p>
            <a:r>
              <a:rPr lang="en" dirty="0"/>
              <a:t>For each item, determine if it is:</a:t>
            </a:r>
            <a:endParaRPr dirty="0"/>
          </a:p>
          <a:p>
            <a:pPr lvl="1">
              <a:spcBef>
                <a:spcPts val="0"/>
              </a:spcBef>
            </a:pPr>
            <a:r>
              <a:rPr lang="en" b="1" dirty="0">
                <a:latin typeface="Open Sans"/>
                <a:ea typeface="Open Sans"/>
                <a:cs typeface="Open Sans"/>
                <a:sym typeface="Open Sans"/>
              </a:rPr>
              <a:t>Met:</a:t>
            </a:r>
            <a:r>
              <a:rPr lang="en" dirty="0"/>
              <a:t> The Windows 10 machine complies with the NIST guideline</a:t>
            </a:r>
            <a:endParaRPr dirty="0"/>
          </a:p>
          <a:p>
            <a:pPr lvl="1">
              <a:spcBef>
                <a:spcPts val="0"/>
              </a:spcBef>
            </a:pPr>
            <a:r>
              <a:rPr lang="en" b="1" dirty="0">
                <a:latin typeface="Open Sans"/>
                <a:ea typeface="Open Sans"/>
                <a:cs typeface="Open Sans"/>
                <a:sym typeface="Open Sans"/>
              </a:rPr>
              <a:t>Not Met:</a:t>
            </a:r>
            <a:r>
              <a:rPr lang="en" dirty="0"/>
              <a:t> The Windows 10 machine does not comply with the NIST guideline</a:t>
            </a:r>
            <a:endParaRPr dirty="0"/>
          </a:p>
          <a:p>
            <a:pPr lvl="1">
              <a:spcBef>
                <a:spcPts val="0"/>
              </a:spcBef>
            </a:pPr>
            <a:r>
              <a:rPr lang="en" b="1" dirty="0">
                <a:latin typeface="Open Sans"/>
                <a:ea typeface="Open Sans"/>
                <a:cs typeface="Open Sans"/>
                <a:sym typeface="Open Sans"/>
              </a:rPr>
              <a:t>NA (Not Applicable):</a:t>
            </a:r>
            <a:r>
              <a:rPr lang="en" dirty="0"/>
              <a:t> The NIST guideline does not apply to this Windows 10 machine</a:t>
            </a:r>
          </a:p>
          <a:p>
            <a:r>
              <a:rPr lang="en" dirty="0"/>
              <a:t>Add Screenshot for each item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Windows Desktop Compliance</a:t>
            </a:r>
            <a:endParaRPr dirty="0"/>
          </a:p>
        </p:txBody>
      </p:sp>
      <p:graphicFrame>
        <p:nvGraphicFramePr>
          <p:cNvPr id="151" name="Google Shape;151;p26"/>
          <p:cNvGraphicFramePr/>
          <p:nvPr>
            <p:extLst>
              <p:ext uri="{D42A27DB-BD31-4B8C-83A1-F6EECF244321}">
                <p14:modId xmlns:p14="http://schemas.microsoft.com/office/powerpoint/2010/main" val="1282246825"/>
              </p:ext>
            </p:extLst>
          </p:nvPr>
        </p:nvGraphicFramePr>
        <p:xfrm>
          <a:off x="222204" y="1890507"/>
          <a:ext cx="6390530" cy="5363524"/>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Windows 10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Built-In Administrator account is disabled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Windows Firewall is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525C65"/>
                          </a:solidFill>
                          <a:latin typeface="Open Sans Light"/>
                          <a:ea typeface="Open Sans Light"/>
                          <a:cs typeface="Open Sans Light"/>
                          <a:sym typeface="Open Sans Light"/>
                        </a:rPr>
                        <a:t>Met</a:t>
                      </a:r>
                    </a:p>
                  </a:txBody>
                  <a:tcPr marL="80669" marR="80669" marT="80669" marB="80669"/>
                </a:tc>
                <a:extLst>
                  <a:ext uri="{0D108BD9-81ED-4DB2-BD59-A6C34878D82A}">
                    <a16:rowId xmlns:a16="http://schemas.microsoft.com/office/drawing/2014/main" val="10002"/>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Automatic updates are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525C65"/>
                          </a:solidFill>
                          <a:latin typeface="Open Sans Light"/>
                          <a:ea typeface="Open Sans Light"/>
                          <a:cs typeface="Open Sans Light"/>
                          <a:sym typeface="Open Sans Light"/>
                        </a:rPr>
                        <a:t>Met</a:t>
                      </a:r>
                    </a:p>
                  </a:txBody>
                  <a:tcPr marL="80669" marR="80669" marT="80669" marB="80669"/>
                </a:tc>
                <a:extLst>
                  <a:ext uri="{0D108BD9-81ED-4DB2-BD59-A6C34878D82A}">
                    <a16:rowId xmlns:a16="http://schemas.microsoft.com/office/drawing/2014/main" val="10003"/>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User Account Control (UAC) is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525C65"/>
                          </a:solidFill>
                          <a:latin typeface="Open Sans Light"/>
                          <a:ea typeface="Open Sans Light"/>
                          <a:cs typeface="Open Sans Light"/>
                          <a:sym typeface="Open Sans Light"/>
                        </a:rPr>
                        <a:t>Met</a:t>
                      </a:r>
                    </a:p>
                  </a:txBody>
                  <a:tcPr marL="80669" marR="80669" marT="80669" marB="80669"/>
                </a:tc>
                <a:extLst>
                  <a:ext uri="{0D108BD9-81ED-4DB2-BD59-A6C34878D82A}">
                    <a16:rowId xmlns:a16="http://schemas.microsoft.com/office/drawing/2014/main" val="10004"/>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Strong password policies are enforced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525C65"/>
                          </a:solidFill>
                          <a:latin typeface="Open Sans Light"/>
                          <a:ea typeface="Open Sans Light"/>
                          <a:cs typeface="Open Sans Light"/>
                          <a:sym typeface="Open Sans Light"/>
                        </a:rPr>
                        <a:t>Not Met</a:t>
                      </a:r>
                    </a:p>
                  </a:txBody>
                  <a:tcPr marL="80669" marR="80669" marT="80669" marB="80669"/>
                </a:tc>
                <a:extLst>
                  <a:ext uri="{0D108BD9-81ED-4DB2-BD59-A6C34878D82A}">
                    <a16:rowId xmlns:a16="http://schemas.microsoft.com/office/drawing/2014/main" val="10005"/>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Guest account is disabled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6"/>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System logging and auditing are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7"/>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Windows Defender Antivirus is enabled and up to date</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8"/>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Remote Desktop Services are configured securely</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Not 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9"/>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Internet Explorer Enhanced Security Configuration (IE ESC) is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1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USB ports are disabled or restricted to authorized devices only</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Not 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11"/>
                  </a:ext>
                </a:extLst>
              </a:tr>
              <a:tr h="493481">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Network access controls are implemented, including VLAN segmentation and port security</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Not 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12"/>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Remote Registry service is disabled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13"/>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Windows Updates are configured to download and install updates automatically</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1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Desktop Compliance</a:t>
            </a:r>
            <a:endParaRPr/>
          </a:p>
        </p:txBody>
      </p:sp>
      <p:sp>
        <p:nvSpPr>
          <p:cNvPr id="157" name="Google Shape;157;p27"/>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dirty="0"/>
              <a:t>Ensuring the Windows 10 desktop at Fed F1rst Control Systems meets all </a:t>
            </a:r>
            <a:r>
              <a:rPr lang="en" i="1" dirty="0"/>
              <a:t>NIST SP 800-53 Rev. 5</a:t>
            </a:r>
            <a:r>
              <a:rPr lang="en" dirty="0"/>
              <a:t> controls is vital for maintaining a strong security posture. After identifying controls that are not met, the next step is to outline straightforward remediation actions. Simplifying the remediation process by focusing on concise, one-line solutions will facilitate a more efficient path to compliance. This approach enables you to quickly address vulnerabilities and enhance the system's security with minimal complexity.</a:t>
            </a:r>
            <a:endParaRPr dirty="0"/>
          </a:p>
          <a:p>
            <a:pPr marL="0" indent="0">
              <a:lnSpc>
                <a:spcPct val="100000"/>
              </a:lnSpc>
              <a:buClr>
                <a:schemeClr val="dk1"/>
              </a:buClr>
              <a:buSzPts val="1100"/>
              <a:buNone/>
            </a:pPr>
            <a:endParaRPr dirty="0"/>
          </a:p>
          <a:p>
            <a:r>
              <a:rPr lang="en" dirty="0"/>
              <a:t>Review the list of </a:t>
            </a:r>
            <a:r>
              <a:rPr lang="en" i="1" dirty="0"/>
              <a:t>NIST SP 800-53 Rev. 5</a:t>
            </a:r>
            <a:r>
              <a:rPr lang="en" dirty="0"/>
              <a:t> controls previously identified as "Not Met"</a:t>
            </a:r>
            <a:endParaRPr dirty="0"/>
          </a:p>
          <a:p>
            <a:r>
              <a:rPr lang="en" dirty="0"/>
              <a:t>For </a:t>
            </a:r>
            <a:r>
              <a:rPr lang="en" b="1" dirty="0">
                <a:latin typeface="Open Sans"/>
                <a:ea typeface="Open Sans"/>
                <a:cs typeface="Open Sans"/>
                <a:sym typeface="Open Sans"/>
              </a:rPr>
              <a:t>each control not met</a:t>
            </a:r>
            <a:r>
              <a:rPr lang="en" dirty="0"/>
              <a:t>, provide a short remediation solution. This should be a direct action that can be taken to address the gap</a:t>
            </a:r>
            <a:endParaRPr dirty="0"/>
          </a:p>
          <a:p>
            <a:r>
              <a:rPr lang="en" dirty="0"/>
              <a:t>Ensure the solution is specific enough to be actionable and relevant to a Windows 10 environment</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61"/>
        <p:cNvGrpSpPr/>
        <p:nvPr/>
      </p:nvGrpSpPr>
      <p:grpSpPr>
        <a:xfrm>
          <a:off x="0" y="0"/>
          <a:ext cx="0" cy="0"/>
          <a:chOff x="0" y="0"/>
          <a:chExt cx="0" cy="0"/>
        </a:xfrm>
      </p:grpSpPr>
      <p:sp>
        <p:nvSpPr>
          <p:cNvPr id="162" name="Google Shape;162;p28"/>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Windows Desktop Compliance</a:t>
            </a:r>
            <a:endParaRPr dirty="0"/>
          </a:p>
        </p:txBody>
      </p:sp>
      <p:graphicFrame>
        <p:nvGraphicFramePr>
          <p:cNvPr id="163" name="Google Shape;163;p28"/>
          <p:cNvGraphicFramePr/>
          <p:nvPr>
            <p:extLst>
              <p:ext uri="{D42A27DB-BD31-4B8C-83A1-F6EECF244321}">
                <p14:modId xmlns:p14="http://schemas.microsoft.com/office/powerpoint/2010/main" val="183000298"/>
              </p:ext>
            </p:extLst>
          </p:nvPr>
        </p:nvGraphicFramePr>
        <p:xfrm>
          <a:off x="233735" y="2782412"/>
          <a:ext cx="6390529" cy="166469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336176">
                <a:tc>
                  <a:txBody>
                    <a:bodyPr/>
                    <a:lstStyle/>
                    <a:p>
                      <a:pPr marL="0" lvl="0" indent="0" algn="l" rtl="0">
                        <a:spcBef>
                          <a:spcPts val="0"/>
                        </a:spcBef>
                        <a:spcAft>
                          <a:spcPts val="0"/>
                        </a:spcAft>
                        <a:buClr>
                          <a:schemeClr val="dk1"/>
                        </a:buClr>
                        <a:buSzPts val="1100"/>
                        <a:buFont typeface="Arial"/>
                        <a:buNone/>
                      </a:pPr>
                      <a:r>
                        <a:rPr lang="en" sz="1100" dirty="0">
                          <a:solidFill>
                            <a:srgbClr val="525C65"/>
                          </a:solidFill>
                          <a:latin typeface="Open Sans Light"/>
                          <a:ea typeface="Open Sans Light"/>
                          <a:cs typeface="Open Sans Light"/>
                          <a:sym typeface="Open Sans Light"/>
                        </a:rPr>
                        <a:t>[</a:t>
                      </a:r>
                      <a:r>
                        <a:rPr lang="en-US" sz="1100" dirty="0"/>
                        <a:t>Strong password policies are enforced</a:t>
                      </a:r>
                      <a:r>
                        <a:rPr lang="en" sz="1100" dirty="0">
                          <a:solidFill>
                            <a:srgbClr val="525C65"/>
                          </a:solidFill>
                          <a:latin typeface="Open Sans Light"/>
                          <a:ea typeface="Open Sans Light"/>
                          <a:cs typeface="Open Sans Light"/>
                          <a:sym typeface="Open Sans Light"/>
                        </a:rPr>
                        <a:t>]: </a:t>
                      </a:r>
                      <a:r>
                        <a:rPr lang="en-IN" sz="1100" dirty="0"/>
                        <a:t>Configure password policies via Group Policy (</a:t>
                      </a:r>
                      <a:r>
                        <a:rPr lang="en-IN" sz="1100" dirty="0" err="1"/>
                        <a:t>gpedit.msc</a:t>
                      </a:r>
                      <a:r>
                        <a:rPr lang="en-IN" sz="1100" dirty="0"/>
                        <a:t>) under Computer Configuration &gt; Windows Settings &gt; Security Settings &gt; Account Policies &gt; Password Policy. Set minimum password length, complexity requirements, and expiration period.</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US" sz="1100" dirty="0"/>
                        <a:t>Remote Desktop Services are configured securely</a:t>
                      </a:r>
                      <a:r>
                        <a:rPr lang="en" sz="1100" dirty="0">
                          <a:solidFill>
                            <a:srgbClr val="525C65"/>
                          </a:solidFill>
                          <a:latin typeface="Open Sans Light"/>
                          <a:ea typeface="Open Sans Light"/>
                          <a:cs typeface="Open Sans Light"/>
                          <a:sym typeface="Open Sans Light"/>
                        </a:rPr>
                        <a:t>: </a:t>
                      </a:r>
                      <a:r>
                        <a:rPr lang="en-US" sz="1100" dirty="0"/>
                        <a:t>If Remote Desktop is enabled, restrict access using System Properties &gt; Remote Settings. Enable Network Level Authentication (NLA) and allow connections only from specific users.</a:t>
                      </a:r>
                      <a:endParaRPr sz="1100" dirty="0"/>
                    </a:p>
                  </a:txBody>
                  <a:tcPr marL="80669" marR="80669" marT="80669" marB="80669"/>
                </a:tc>
                <a:extLst>
                  <a:ext uri="{0D108BD9-81ED-4DB2-BD59-A6C34878D82A}">
                    <a16:rowId xmlns:a16="http://schemas.microsoft.com/office/drawing/2014/main" val="10001"/>
                  </a:ext>
                </a:extLst>
              </a:tr>
              <a:tr h="336176">
                <a:tc>
                  <a:txBody>
                    <a:bodyPr/>
                    <a:lstStyle/>
                    <a:p>
                      <a:pPr marL="0" lvl="0" indent="0" algn="l" rtl="0">
                        <a:spcBef>
                          <a:spcPts val="0"/>
                        </a:spcBef>
                        <a:spcAft>
                          <a:spcPts val="0"/>
                        </a:spcAft>
                        <a:buNone/>
                      </a:pPr>
                      <a:r>
                        <a:rPr lang="en-US" sz="1100" dirty="0"/>
                        <a:t>USB ports are disabled or restricted to authorized devices only</a:t>
                      </a:r>
                      <a:r>
                        <a:rPr lang="en" sz="1100" dirty="0">
                          <a:solidFill>
                            <a:srgbClr val="525C65"/>
                          </a:solidFill>
                          <a:latin typeface="Open Sans Light"/>
                          <a:ea typeface="Open Sans Light"/>
                          <a:cs typeface="Open Sans Light"/>
                          <a:sym typeface="Open Sans Light"/>
                        </a:rPr>
                        <a:t>: </a:t>
                      </a:r>
                      <a:r>
                        <a:rPr lang="en-IN" sz="1100" dirty="0"/>
                        <a:t>Use Group Policy</a:t>
                      </a:r>
                      <a:endParaRPr sz="1100" dirty="0"/>
                    </a:p>
                  </a:txBody>
                  <a:tcPr marL="80669" marR="80669" marT="80669" marB="80669"/>
                </a:tc>
                <a:extLst>
                  <a:ext uri="{0D108BD9-81ED-4DB2-BD59-A6C34878D82A}">
                    <a16:rowId xmlns:a16="http://schemas.microsoft.com/office/drawing/2014/main" val="10002"/>
                  </a:ext>
                </a:extLst>
              </a:tr>
            </a:tbl>
          </a:graphicData>
        </a:graphic>
      </p:graphicFrame>
      <p:sp>
        <p:nvSpPr>
          <p:cNvPr id="164" name="Google Shape;164;p28"/>
          <p:cNvSpPr txBox="1"/>
          <p:nvPr/>
        </p:nvSpPr>
        <p:spPr>
          <a:xfrm>
            <a:off x="233780" y="1890508"/>
            <a:ext cx="5844176" cy="651637"/>
          </a:xfrm>
          <a:prstGeom prst="rect">
            <a:avLst/>
          </a:prstGeom>
          <a:noFill/>
          <a:ln>
            <a:noFill/>
          </a:ln>
        </p:spPr>
        <p:txBody>
          <a:bodyPr spcFirstLastPara="1" wrap="square" lIns="80669" tIns="80669" rIns="80669" bIns="80669" anchor="t" anchorCtr="0">
            <a:spAutoFit/>
          </a:bodyPr>
          <a:lstStyle/>
          <a:p>
            <a:pPr defTabSz="806867">
              <a:buClr>
                <a:srgbClr val="000000"/>
              </a:buClr>
            </a:pPr>
            <a:r>
              <a:rPr lang="en" sz="1588" kern="0">
                <a:solidFill>
                  <a:srgbClr val="525C65"/>
                </a:solidFill>
                <a:latin typeface="Open Sans Light"/>
                <a:ea typeface="Open Sans Light"/>
                <a:cs typeface="Open Sans Light"/>
                <a:sym typeface="Open Sans Light"/>
              </a:rPr>
              <a:t>Write your remediation solutions below. </a:t>
            </a:r>
            <a:r>
              <a:rPr lang="en" sz="1588" b="1" kern="0">
                <a:solidFill>
                  <a:srgbClr val="525C65"/>
                </a:solidFill>
                <a:latin typeface="Open Sans"/>
                <a:ea typeface="Open Sans"/>
                <a:cs typeface="Open Sans"/>
                <a:sym typeface="Open Sans"/>
              </a:rPr>
              <a:t>You should write one solution to one row, adding rows as necessary.</a:t>
            </a:r>
            <a:endParaRPr sz="1588" b="1" kern="0">
              <a:solidFill>
                <a:srgbClr val="525C65"/>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9"/>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sp>
        <p:nvSpPr>
          <p:cNvPr id="170" name="Google Shape;170;p29"/>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dirty="0"/>
              <a:t>As part of Fed F1rst Control Systems' ongoing commitment to cybersecurity excellence, aligning with the Cybersecurity Maturity Model Certification (CMMC) framework is essential. This task is designed to evaluate the security posture of a provided CentOS/Ubuntu/Kali Virtual Machine (VM) against a set of 15 CMMC controls. Your objective is to assess each item's compliance, ensuring that the VM meets the stringent requirements set forth for protecting sensitive information. This exercise is crucial for identifying gaps in security practices and ensuring that the VM is fortified against potential cyber threats.</a:t>
            </a:r>
            <a:endParaRPr dirty="0"/>
          </a:p>
          <a:p>
            <a:pPr marL="0" indent="0">
              <a:spcBef>
                <a:spcPts val="1324"/>
              </a:spcBef>
              <a:buNone/>
            </a:pPr>
            <a:endParaRPr dirty="0"/>
          </a:p>
          <a:p>
            <a:pPr>
              <a:spcBef>
                <a:spcPts val="1324"/>
              </a:spcBef>
            </a:pPr>
            <a:r>
              <a:rPr lang="en" dirty="0"/>
              <a:t>Review the provided 15-item list of CMMC controls</a:t>
            </a:r>
            <a:endParaRPr dirty="0"/>
          </a:p>
          <a:p>
            <a:r>
              <a:rPr lang="en" dirty="0"/>
              <a:t>Assess a Linux VM for compliance with each listed control</a:t>
            </a:r>
            <a:endParaRPr dirty="0"/>
          </a:p>
          <a:p>
            <a:r>
              <a:rPr lang="en" dirty="0"/>
              <a:t>For each control, determine if it is:</a:t>
            </a:r>
            <a:endParaRPr dirty="0"/>
          </a:p>
          <a:p>
            <a:pPr lvl="1">
              <a:spcBef>
                <a:spcPts val="0"/>
              </a:spcBef>
            </a:pPr>
            <a:r>
              <a:rPr lang="en" b="1" dirty="0">
                <a:latin typeface="Open Sans"/>
                <a:ea typeface="Open Sans"/>
                <a:cs typeface="Open Sans"/>
                <a:sym typeface="Open Sans"/>
              </a:rPr>
              <a:t>Met:</a:t>
            </a:r>
            <a:r>
              <a:rPr lang="en" dirty="0"/>
              <a:t> The CentOS VM complies with the CMMC control</a:t>
            </a:r>
            <a:endParaRPr dirty="0"/>
          </a:p>
          <a:p>
            <a:pPr lvl="1">
              <a:spcBef>
                <a:spcPts val="0"/>
              </a:spcBef>
            </a:pPr>
            <a:r>
              <a:rPr lang="en" b="1" dirty="0">
                <a:latin typeface="Open Sans"/>
                <a:ea typeface="Open Sans"/>
                <a:cs typeface="Open Sans"/>
                <a:sym typeface="Open Sans"/>
              </a:rPr>
              <a:t>Not Met:</a:t>
            </a:r>
            <a:r>
              <a:rPr lang="en" dirty="0"/>
              <a:t> The CentOS VM does not comply with the CMMC control</a:t>
            </a:r>
            <a:endParaRPr dirty="0"/>
          </a:p>
          <a:p>
            <a:pPr lvl="1">
              <a:spcBef>
                <a:spcPts val="0"/>
              </a:spcBef>
            </a:pPr>
            <a:r>
              <a:rPr lang="en" b="1" dirty="0">
                <a:latin typeface="Open Sans"/>
                <a:ea typeface="Open Sans"/>
                <a:cs typeface="Open Sans"/>
                <a:sym typeface="Open Sans"/>
              </a:rPr>
              <a:t>NA (Not Applicable):</a:t>
            </a:r>
            <a:r>
              <a:rPr lang="en" dirty="0"/>
              <a:t> The CMMC control does not apply to this CentOS VM</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30"/>
          <p:cNvSpPr txBox="1">
            <a:spLocks noGrp="1"/>
          </p:cNvSpPr>
          <p:nvPr>
            <p:ph type="title"/>
          </p:nvPr>
        </p:nvSpPr>
        <p:spPr>
          <a:xfrm>
            <a:off x="233779" y="902360"/>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76" name="Google Shape;176;p30"/>
          <p:cNvGraphicFramePr/>
          <p:nvPr>
            <p:extLst>
              <p:ext uri="{D42A27DB-BD31-4B8C-83A1-F6EECF244321}">
                <p14:modId xmlns:p14="http://schemas.microsoft.com/office/powerpoint/2010/main" val="2980491051"/>
              </p:ext>
            </p:extLst>
          </p:nvPr>
        </p:nvGraphicFramePr>
        <p:xfrm>
          <a:off x="233779" y="1890507"/>
          <a:ext cx="6390530" cy="571499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CMMC Requirements</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Current on security updates</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l" rtl="0">
                        <a:spcBef>
                          <a:spcPts val="0"/>
                        </a:spcBef>
                        <a:spcAft>
                          <a:spcPts val="0"/>
                        </a:spcAft>
                        <a:buNone/>
                      </a:pPr>
                      <a:r>
                        <a:rPr lang="en-US" sz="1100" dirty="0"/>
                        <a:t>Met</a:t>
                      </a:r>
                      <a:endParaRPr sz="1100" dirty="0"/>
                    </a:p>
                  </a:txBody>
                  <a:tcPr marL="80669" marR="80669" marT="80669" marB="80669"/>
                </a:tc>
                <a:extLst>
                  <a:ext uri="{0D108BD9-81ED-4DB2-BD59-A6C34878D82A}">
                    <a16:rowId xmlns:a16="http://schemas.microsoft.com/office/drawing/2014/main" val="10001"/>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separate partition exists for /var</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2"/>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Disable Automounting of drives</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3"/>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AIDE is installed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4"/>
                  </a:ext>
                </a:extLst>
              </a:tr>
              <a:tr h="33617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100" dirty="0">
                          <a:solidFill>
                            <a:srgbClr val="525C65"/>
                          </a:solidFill>
                          <a:latin typeface="Open Sans Light"/>
                          <a:ea typeface="Open Sans Light"/>
                          <a:cs typeface="Open Sans Light"/>
                          <a:sym typeface="Open Sans Light"/>
                        </a:rPr>
                        <a:t>Ensure daytime services are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5"/>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echo services are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6"/>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tftp server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7"/>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CUPS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8"/>
                  </a:ext>
                </a:extLst>
              </a:tr>
              <a:tr h="336176">
                <a:tc>
                  <a:txBody>
                    <a:bodyPr/>
                    <a:lstStyle/>
                    <a:p>
                      <a:pPr marL="0" lvl="0" indent="0" algn="l" rtl="0">
                        <a:spcBef>
                          <a:spcPts val="0"/>
                        </a:spcBef>
                        <a:spcAft>
                          <a:spcPts val="0"/>
                        </a:spcAft>
                        <a:buNone/>
                      </a:pPr>
                      <a:r>
                        <a:rPr lang="en" sz="1100">
                          <a:solidFill>
                            <a:srgbClr val="525C65"/>
                          </a:solidFill>
                          <a:latin typeface="Open Sans Light"/>
                          <a:ea typeface="Open Sans Light"/>
                          <a:cs typeface="Open Sans Light"/>
                          <a:sym typeface="Open Sans Light"/>
                        </a:rPr>
                        <a:t>Ensure DHCP Server is not enabled</a:t>
                      </a:r>
                      <a:endParaRPr sz="110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09"/>
                  </a:ext>
                </a:extLst>
              </a:tr>
              <a:tr h="336176">
                <a:tc>
                  <a:txBody>
                    <a:bodyPr/>
                    <a:lstStyle/>
                    <a:p>
                      <a:pPr marL="0" lvl="0" indent="0" algn="l" rtl="0">
                        <a:spcBef>
                          <a:spcPts val="0"/>
                        </a:spcBef>
                        <a:spcAft>
                          <a:spcPts val="0"/>
                        </a:spcAft>
                        <a:buNone/>
                      </a:pPr>
                      <a:r>
                        <a:rPr lang="en" sz="1100">
                          <a:solidFill>
                            <a:srgbClr val="525C65"/>
                          </a:solidFill>
                          <a:latin typeface="Open Sans Light"/>
                          <a:ea typeface="Open Sans Light"/>
                          <a:cs typeface="Open Sans Light"/>
                          <a:sym typeface="Open Sans Light"/>
                        </a:rPr>
                        <a:t>Ensure FTP Server is not enabled</a:t>
                      </a:r>
                      <a:endParaRPr sz="110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Samba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1"/>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TCP Wrappers is installed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2"/>
                  </a:ext>
                </a:extLst>
              </a:tr>
              <a:tr h="336176">
                <a:tc>
                  <a:txBody>
                    <a:bodyPr/>
                    <a:lstStyle/>
                    <a:p>
                      <a:pPr marL="0" lvl="0" indent="0" algn="l" rtl="0">
                        <a:spcBef>
                          <a:spcPts val="0"/>
                        </a:spcBef>
                        <a:spcAft>
                          <a:spcPts val="0"/>
                        </a:spcAft>
                        <a:buNone/>
                      </a:pPr>
                      <a:r>
                        <a:rPr lang="en" sz="1100">
                          <a:solidFill>
                            <a:srgbClr val="525C65"/>
                          </a:solidFill>
                          <a:latin typeface="Open Sans Light"/>
                          <a:ea typeface="Open Sans Light"/>
                          <a:cs typeface="Open Sans Light"/>
                          <a:sym typeface="Open Sans Light"/>
                        </a:rPr>
                        <a:t>Ensure DCCP is disabled</a:t>
                      </a:r>
                      <a:endParaRPr sz="110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3"/>
                  </a:ext>
                </a:extLst>
              </a:tr>
              <a:tr h="336176">
                <a:tc>
                  <a:txBody>
                    <a:bodyPr/>
                    <a:lstStyle/>
                    <a:p>
                      <a:pPr marL="0" lvl="0" indent="0" algn="l" rtl="0">
                        <a:spcBef>
                          <a:spcPts val="0"/>
                        </a:spcBef>
                        <a:spcAft>
                          <a:spcPts val="0"/>
                        </a:spcAft>
                        <a:buNone/>
                      </a:pPr>
                      <a:r>
                        <a:rPr lang="en" sz="1100">
                          <a:solidFill>
                            <a:srgbClr val="525C65"/>
                          </a:solidFill>
                          <a:latin typeface="Open Sans Light"/>
                          <a:ea typeface="Open Sans Light"/>
                          <a:cs typeface="Open Sans Light"/>
                          <a:sym typeface="Open Sans Light"/>
                        </a:rPr>
                        <a:t>Ensure iptables is installed</a:t>
                      </a:r>
                      <a:endParaRPr sz="110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4"/>
                  </a:ext>
                </a:extLst>
              </a:tr>
              <a:tr h="336176">
                <a:tc>
                  <a:txBody>
                    <a:bodyPr/>
                    <a:lstStyle/>
                    <a:p>
                      <a:pPr marL="0" lvl="0" indent="0" algn="l" rtl="0">
                        <a:spcBef>
                          <a:spcPts val="0"/>
                        </a:spcBef>
                        <a:spcAft>
                          <a:spcPts val="0"/>
                        </a:spcAft>
                        <a:buNone/>
                      </a:pPr>
                      <a:r>
                        <a:rPr lang="en" sz="1100">
                          <a:solidFill>
                            <a:srgbClr val="525C65"/>
                          </a:solidFill>
                          <a:latin typeface="Open Sans Light"/>
                          <a:ea typeface="Open Sans Light"/>
                          <a:cs typeface="Open Sans Light"/>
                          <a:sym typeface="Open Sans Light"/>
                        </a:rPr>
                        <a:t>Ensure audit log storage size is configured</a:t>
                      </a:r>
                      <a:endParaRPr sz="110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5"/>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audit logs are not automatically deleted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Met</a:t>
                      </a:r>
                    </a:p>
                  </a:txBody>
                  <a:tcPr marL="80669" marR="80669" marT="80669" marB="80669"/>
                </a:tc>
                <a:extLst>
                  <a:ext uri="{0D108BD9-81ED-4DB2-BD59-A6C34878D82A}">
                    <a16:rowId xmlns:a16="http://schemas.microsoft.com/office/drawing/2014/main" val="1001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1544543095"/>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IN" sz="1100" dirty="0">
                          <a:solidFill>
                            <a:srgbClr val="525C65"/>
                          </a:solidFill>
                          <a:latin typeface="Open Sans Light"/>
                          <a:ea typeface="Open Sans Light"/>
                          <a:cs typeface="Open Sans Light"/>
                          <a:sym typeface="Open Sans Light"/>
                        </a:rPr>
                        <a:t>Current on security updates</a:t>
                      </a: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 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8" name="Picture 7">
            <a:extLst>
              <a:ext uri="{FF2B5EF4-FFF2-40B4-BE49-F238E27FC236}">
                <a16:creationId xmlns:a16="http://schemas.microsoft.com/office/drawing/2014/main" id="{9C83887C-1267-DD4B-2EA5-8722F08215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181" y="2735660"/>
            <a:ext cx="2702727" cy="3034945"/>
          </a:xfrm>
          <a:prstGeom prst="rect">
            <a:avLst/>
          </a:prstGeom>
        </p:spPr>
      </p:pic>
      <p:pic>
        <p:nvPicPr>
          <p:cNvPr id="10" name="Picture 9">
            <a:extLst>
              <a:ext uri="{FF2B5EF4-FFF2-40B4-BE49-F238E27FC236}">
                <a16:creationId xmlns:a16="http://schemas.microsoft.com/office/drawing/2014/main" id="{E9896099-0081-45A3-B34A-E8F36DB33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254" y="6037445"/>
            <a:ext cx="4858880" cy="1664306"/>
          </a:xfrm>
          <a:prstGeom prst="rect">
            <a:avLst/>
          </a:prstGeom>
        </p:spPr>
      </p:pic>
    </p:spTree>
    <p:extLst>
      <p:ext uri="{BB962C8B-B14F-4D97-AF65-F5344CB8AC3E}">
        <p14:creationId xmlns:p14="http://schemas.microsoft.com/office/powerpoint/2010/main" val="3107817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027434141"/>
              </p:ext>
            </p:extLst>
          </p:nvPr>
        </p:nvGraphicFramePr>
        <p:xfrm>
          <a:off x="233779" y="1890507"/>
          <a:ext cx="6390530" cy="665154"/>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219955">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separate partition exists for /var</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4BBE6380-BB63-8755-B501-A4B37BD73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00101"/>
            <a:ext cx="6858000" cy="2377131"/>
          </a:xfrm>
          <a:prstGeom prst="rect">
            <a:avLst/>
          </a:prstGeom>
        </p:spPr>
      </p:pic>
    </p:spTree>
    <p:extLst>
      <p:ext uri="{BB962C8B-B14F-4D97-AF65-F5344CB8AC3E}">
        <p14:creationId xmlns:p14="http://schemas.microsoft.com/office/powerpoint/2010/main" val="565052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607220350"/>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Disable Automounting of drives</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 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C2EEA441-38DC-1CC5-5BD1-04B2D4CDDF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95" y="4157604"/>
            <a:ext cx="6154009" cy="828791"/>
          </a:xfrm>
          <a:prstGeom prst="rect">
            <a:avLst/>
          </a:prstGeom>
        </p:spPr>
      </p:pic>
    </p:spTree>
    <p:extLst>
      <p:ext uri="{BB962C8B-B14F-4D97-AF65-F5344CB8AC3E}">
        <p14:creationId xmlns:p14="http://schemas.microsoft.com/office/powerpoint/2010/main" val="3326319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989757217"/>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AIDE is installed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5902C037-4841-3213-6C8E-752F6F1805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33422"/>
            <a:ext cx="6858000" cy="677155"/>
          </a:xfrm>
          <a:prstGeom prst="rect">
            <a:avLst/>
          </a:prstGeom>
        </p:spPr>
      </p:pic>
    </p:spTree>
    <p:extLst>
      <p:ext uri="{BB962C8B-B14F-4D97-AF65-F5344CB8AC3E}">
        <p14:creationId xmlns:p14="http://schemas.microsoft.com/office/powerpoint/2010/main" val="2572703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2071268022"/>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daytime services are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AF38E791-D9C6-D050-6562-43B4899C2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127" y="4243341"/>
            <a:ext cx="5515745" cy="657317"/>
          </a:xfrm>
          <a:prstGeom prst="rect">
            <a:avLst/>
          </a:prstGeom>
        </p:spPr>
      </p:pic>
    </p:spTree>
    <p:extLst>
      <p:ext uri="{BB962C8B-B14F-4D97-AF65-F5344CB8AC3E}">
        <p14:creationId xmlns:p14="http://schemas.microsoft.com/office/powerpoint/2010/main" val="2692545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405233811"/>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echo services are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D8E299D0-0E77-6AAF-1B50-13C8DA476A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444" y="4105210"/>
            <a:ext cx="4925112" cy="933580"/>
          </a:xfrm>
          <a:prstGeom prst="rect">
            <a:avLst/>
          </a:prstGeom>
        </p:spPr>
      </p:pic>
    </p:spTree>
    <p:extLst>
      <p:ext uri="{BB962C8B-B14F-4D97-AF65-F5344CB8AC3E}">
        <p14:creationId xmlns:p14="http://schemas.microsoft.com/office/powerpoint/2010/main" val="317258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1719678626"/>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tftp server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1DBC9D24-02E1-244B-D48C-C0814C212425}"/>
              </a:ext>
            </a:extLst>
          </p:cNvPr>
          <p:cNvPicPr>
            <a:picLocks noChangeAspect="1"/>
          </p:cNvPicPr>
          <p:nvPr/>
        </p:nvPicPr>
        <p:blipFill>
          <a:blip r:embed="rId3"/>
          <a:stretch>
            <a:fillRect/>
          </a:stretch>
        </p:blipFill>
        <p:spPr>
          <a:xfrm>
            <a:off x="1780945" y="4167131"/>
            <a:ext cx="3296110" cy="809738"/>
          </a:xfrm>
          <a:prstGeom prst="rect">
            <a:avLst/>
          </a:prstGeom>
        </p:spPr>
      </p:pic>
    </p:spTree>
    <p:extLst>
      <p:ext uri="{BB962C8B-B14F-4D97-AF65-F5344CB8AC3E}">
        <p14:creationId xmlns:p14="http://schemas.microsoft.com/office/powerpoint/2010/main" val="1583036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17428820"/>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CUPS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32906762-517E-316A-53FE-BD1C7AF1C894}"/>
              </a:ext>
            </a:extLst>
          </p:cNvPr>
          <p:cNvPicPr>
            <a:picLocks noChangeAspect="1"/>
          </p:cNvPicPr>
          <p:nvPr/>
        </p:nvPicPr>
        <p:blipFill>
          <a:blip r:embed="rId3"/>
          <a:stretch>
            <a:fillRect/>
          </a:stretch>
        </p:blipFill>
        <p:spPr>
          <a:xfrm>
            <a:off x="1328444" y="4133789"/>
            <a:ext cx="4201111" cy="876422"/>
          </a:xfrm>
          <a:prstGeom prst="rect">
            <a:avLst/>
          </a:prstGeom>
        </p:spPr>
      </p:pic>
    </p:spTree>
    <p:extLst>
      <p:ext uri="{BB962C8B-B14F-4D97-AF65-F5344CB8AC3E}">
        <p14:creationId xmlns:p14="http://schemas.microsoft.com/office/powerpoint/2010/main" val="3588631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1169381418"/>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DHCP Server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7B5D162A-393D-6C06-8214-48492AC8DA2C}"/>
              </a:ext>
            </a:extLst>
          </p:cNvPr>
          <p:cNvPicPr>
            <a:picLocks noChangeAspect="1"/>
          </p:cNvPicPr>
          <p:nvPr/>
        </p:nvPicPr>
        <p:blipFill>
          <a:blip r:embed="rId3"/>
          <a:stretch>
            <a:fillRect/>
          </a:stretch>
        </p:blipFill>
        <p:spPr>
          <a:xfrm>
            <a:off x="1161733" y="4100446"/>
            <a:ext cx="4534533" cy="943107"/>
          </a:xfrm>
          <a:prstGeom prst="rect">
            <a:avLst/>
          </a:prstGeom>
        </p:spPr>
      </p:pic>
    </p:spTree>
    <p:extLst>
      <p:ext uri="{BB962C8B-B14F-4D97-AF65-F5344CB8AC3E}">
        <p14:creationId xmlns:p14="http://schemas.microsoft.com/office/powerpoint/2010/main" val="2450497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4096001646"/>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FTP Server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8E894719-2D9A-51F3-56D4-A3608F7288C4}"/>
              </a:ext>
            </a:extLst>
          </p:cNvPr>
          <p:cNvPicPr>
            <a:picLocks noChangeAspect="1"/>
          </p:cNvPicPr>
          <p:nvPr/>
        </p:nvPicPr>
        <p:blipFill>
          <a:blip r:embed="rId3"/>
          <a:stretch>
            <a:fillRect/>
          </a:stretch>
        </p:blipFill>
        <p:spPr>
          <a:xfrm>
            <a:off x="1466576" y="3790841"/>
            <a:ext cx="3924848" cy="1562318"/>
          </a:xfrm>
          <a:prstGeom prst="rect">
            <a:avLst/>
          </a:prstGeom>
        </p:spPr>
      </p:pic>
    </p:spTree>
    <p:extLst>
      <p:ext uri="{BB962C8B-B14F-4D97-AF65-F5344CB8AC3E}">
        <p14:creationId xmlns:p14="http://schemas.microsoft.com/office/powerpoint/2010/main" val="3570648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764845335"/>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Samba is not enabled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38D70390-71D9-AEC0-33EF-268405153FDA}"/>
              </a:ext>
            </a:extLst>
          </p:cNvPr>
          <p:cNvPicPr>
            <a:picLocks noChangeAspect="1"/>
          </p:cNvPicPr>
          <p:nvPr/>
        </p:nvPicPr>
        <p:blipFill>
          <a:blip r:embed="rId3"/>
          <a:stretch>
            <a:fillRect/>
          </a:stretch>
        </p:blipFill>
        <p:spPr>
          <a:xfrm>
            <a:off x="1490392" y="3790841"/>
            <a:ext cx="3877216" cy="1562318"/>
          </a:xfrm>
          <a:prstGeom prst="rect">
            <a:avLst/>
          </a:prstGeom>
        </p:spPr>
      </p:pic>
    </p:spTree>
    <p:extLst>
      <p:ext uri="{BB962C8B-B14F-4D97-AF65-F5344CB8AC3E}">
        <p14:creationId xmlns:p14="http://schemas.microsoft.com/office/powerpoint/2010/main" val="514257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2184635007"/>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 sz="1100" dirty="0">
                          <a:solidFill>
                            <a:srgbClr val="525C65"/>
                          </a:solidFill>
                          <a:latin typeface="Open Sans Light"/>
                          <a:ea typeface="Open Sans Light"/>
                          <a:cs typeface="Open Sans Light"/>
                          <a:sym typeface="Open Sans Light"/>
                        </a:rPr>
                        <a:t>Ensure TCP Wrappers is installed</a:t>
                      </a:r>
                      <a:endParaRPr sz="1100" dirty="0">
                        <a:solidFill>
                          <a:srgbClr val="525C65"/>
                        </a:solidFill>
                        <a:latin typeface="Open Sans Light"/>
                        <a:ea typeface="Open Sans Light"/>
                        <a:cs typeface="Open Sans Light"/>
                        <a:sym typeface="Open Sans Light"/>
                      </a:endParaRP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AB6CB3AC-7620-A997-637C-6D57BEA5E391}"/>
              </a:ext>
            </a:extLst>
          </p:cNvPr>
          <p:cNvPicPr>
            <a:picLocks noChangeAspect="1"/>
          </p:cNvPicPr>
          <p:nvPr/>
        </p:nvPicPr>
        <p:blipFill>
          <a:blip r:embed="rId3"/>
          <a:stretch>
            <a:fillRect/>
          </a:stretch>
        </p:blipFill>
        <p:spPr>
          <a:xfrm>
            <a:off x="0" y="4297451"/>
            <a:ext cx="6858000" cy="549098"/>
          </a:xfrm>
          <a:prstGeom prst="rect">
            <a:avLst/>
          </a:prstGeom>
        </p:spPr>
      </p:pic>
    </p:spTree>
    <p:extLst>
      <p:ext uri="{BB962C8B-B14F-4D97-AF65-F5344CB8AC3E}">
        <p14:creationId xmlns:p14="http://schemas.microsoft.com/office/powerpoint/2010/main" val="852895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309752105"/>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IN" sz="1100" dirty="0">
                          <a:solidFill>
                            <a:srgbClr val="525C65"/>
                          </a:solidFill>
                          <a:latin typeface="Open Sans Light"/>
                          <a:ea typeface="Open Sans Light"/>
                          <a:cs typeface="Open Sans Light"/>
                          <a:sym typeface="Open Sans Light"/>
                        </a:rPr>
                        <a:t>Ensure DCCP is disabled</a:t>
                      </a: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E41F07FE-DAD0-7EA5-49A6-9516FE8E8B30}"/>
              </a:ext>
            </a:extLst>
          </p:cNvPr>
          <p:cNvPicPr>
            <a:picLocks noChangeAspect="1"/>
          </p:cNvPicPr>
          <p:nvPr/>
        </p:nvPicPr>
        <p:blipFill>
          <a:blip r:embed="rId3"/>
          <a:stretch>
            <a:fillRect/>
          </a:stretch>
        </p:blipFill>
        <p:spPr>
          <a:xfrm>
            <a:off x="1680918" y="4167131"/>
            <a:ext cx="3496163" cy="809738"/>
          </a:xfrm>
          <a:prstGeom prst="rect">
            <a:avLst/>
          </a:prstGeom>
        </p:spPr>
      </p:pic>
    </p:spTree>
    <p:extLst>
      <p:ext uri="{BB962C8B-B14F-4D97-AF65-F5344CB8AC3E}">
        <p14:creationId xmlns:p14="http://schemas.microsoft.com/office/powerpoint/2010/main" val="309781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623241201"/>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IN" sz="1100" dirty="0">
                          <a:solidFill>
                            <a:srgbClr val="525C65"/>
                          </a:solidFill>
                          <a:latin typeface="Open Sans Light"/>
                          <a:ea typeface="Open Sans Light"/>
                          <a:cs typeface="Open Sans Light"/>
                          <a:sym typeface="Open Sans Light"/>
                        </a:rPr>
                        <a:t>Ensure iptables is installed</a:t>
                      </a: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1C561658-2A06-773E-E65D-FD71EFB8821C}"/>
              </a:ext>
            </a:extLst>
          </p:cNvPr>
          <p:cNvPicPr>
            <a:picLocks noChangeAspect="1"/>
          </p:cNvPicPr>
          <p:nvPr/>
        </p:nvPicPr>
        <p:blipFill>
          <a:blip r:embed="rId3"/>
          <a:stretch>
            <a:fillRect/>
          </a:stretch>
        </p:blipFill>
        <p:spPr>
          <a:xfrm>
            <a:off x="0" y="4322719"/>
            <a:ext cx="6858000" cy="498562"/>
          </a:xfrm>
          <a:prstGeom prst="rect">
            <a:avLst/>
          </a:prstGeom>
        </p:spPr>
      </p:pic>
    </p:spTree>
    <p:extLst>
      <p:ext uri="{BB962C8B-B14F-4D97-AF65-F5344CB8AC3E}">
        <p14:creationId xmlns:p14="http://schemas.microsoft.com/office/powerpoint/2010/main" val="3799768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1626153716"/>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US" sz="1100" dirty="0">
                          <a:solidFill>
                            <a:srgbClr val="525C65"/>
                          </a:solidFill>
                          <a:latin typeface="Open Sans Light"/>
                          <a:ea typeface="Open Sans Light"/>
                          <a:cs typeface="Open Sans Light"/>
                          <a:sym typeface="Open Sans Light"/>
                        </a:rPr>
                        <a:t>Ensure audit log storage size is configured</a:t>
                      </a: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F4CDF503-8E3E-2D7E-E92E-6672E3513EFD}"/>
              </a:ext>
            </a:extLst>
          </p:cNvPr>
          <p:cNvPicPr>
            <a:picLocks noChangeAspect="1"/>
          </p:cNvPicPr>
          <p:nvPr/>
        </p:nvPicPr>
        <p:blipFill>
          <a:blip r:embed="rId3"/>
          <a:stretch>
            <a:fillRect/>
          </a:stretch>
        </p:blipFill>
        <p:spPr>
          <a:xfrm>
            <a:off x="0" y="4266154"/>
            <a:ext cx="6858000" cy="611691"/>
          </a:xfrm>
          <a:prstGeom prst="rect">
            <a:avLst/>
          </a:prstGeom>
        </p:spPr>
      </p:pic>
    </p:spTree>
    <p:extLst>
      <p:ext uri="{BB962C8B-B14F-4D97-AF65-F5344CB8AC3E}">
        <p14:creationId xmlns:p14="http://schemas.microsoft.com/office/powerpoint/2010/main" val="969891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Linux Compliance</a:t>
            </a:r>
            <a:endParaRPr dirty="0"/>
          </a:p>
        </p:txBody>
      </p:sp>
      <p:graphicFrame>
        <p:nvGraphicFramePr>
          <p:cNvPr id="151" name="Google Shape;151;p26"/>
          <p:cNvGraphicFramePr/>
          <p:nvPr>
            <p:extLst>
              <p:ext uri="{D42A27DB-BD31-4B8C-83A1-F6EECF244321}">
                <p14:modId xmlns:p14="http://schemas.microsoft.com/office/powerpoint/2010/main" val="3372547302"/>
              </p:ext>
            </p:extLst>
          </p:nvPr>
        </p:nvGraphicFramePr>
        <p:xfrm>
          <a:off x="233779" y="1890507"/>
          <a:ext cx="6390530" cy="672352"/>
        </p:xfrm>
        <a:graphic>
          <a:graphicData uri="http://schemas.openxmlformats.org/drawingml/2006/table">
            <a:tbl>
              <a:tblPr>
                <a:noFill/>
              </a:tblPr>
              <a:tblGrid>
                <a:gridCol w="5114074">
                  <a:extLst>
                    <a:ext uri="{9D8B030D-6E8A-4147-A177-3AD203B41FA5}">
                      <a16:colId xmlns:a16="http://schemas.microsoft.com/office/drawing/2014/main" val="20000"/>
                    </a:ext>
                  </a:extLst>
                </a:gridCol>
                <a:gridCol w="1276456">
                  <a:extLst>
                    <a:ext uri="{9D8B030D-6E8A-4147-A177-3AD203B41FA5}">
                      <a16:colId xmlns:a16="http://schemas.microsoft.com/office/drawing/2014/main" val="20001"/>
                    </a:ext>
                  </a:extLst>
                </a:gridCol>
              </a:tblGrid>
              <a:tr h="336176">
                <a:tc>
                  <a:txBody>
                    <a:bodyPr/>
                    <a:lstStyle/>
                    <a:p>
                      <a:pPr marL="0" lvl="0" indent="0" algn="ctr" rtl="0">
                        <a:spcBef>
                          <a:spcPts val="0"/>
                        </a:spcBef>
                        <a:spcAft>
                          <a:spcPts val="0"/>
                        </a:spcAft>
                        <a:buNone/>
                      </a:pPr>
                      <a:r>
                        <a:rPr lang="en" sz="1100" dirty="0">
                          <a:solidFill>
                            <a:srgbClr val="525C65"/>
                          </a:solidFill>
                          <a:latin typeface="Open Sans SemiBold"/>
                          <a:ea typeface="Open Sans SemiBold"/>
                          <a:cs typeface="Open Sans SemiBold"/>
                          <a:sym typeface="Open Sans SemiBold"/>
                        </a:rPr>
                        <a:t>Linux Regulatory Requirement</a:t>
                      </a:r>
                      <a:endParaRPr sz="1100" dirty="0">
                        <a:solidFill>
                          <a:srgbClr val="525C65"/>
                        </a:solidFill>
                        <a:latin typeface="Open Sans SemiBold"/>
                        <a:ea typeface="Open Sans SemiBold"/>
                        <a:cs typeface="Open Sans SemiBold"/>
                        <a:sym typeface="Open Sans SemiBold"/>
                      </a:endParaRPr>
                    </a:p>
                  </a:txBody>
                  <a:tcPr marL="80669" marR="80669" marT="80669" marB="80669"/>
                </a:tc>
                <a:tc>
                  <a:txBody>
                    <a:bodyPr/>
                    <a:lstStyle/>
                    <a:p>
                      <a:pPr marL="0" lvl="0" indent="0" algn="l" rtl="0">
                        <a:spcBef>
                          <a:spcPts val="0"/>
                        </a:spcBef>
                        <a:spcAft>
                          <a:spcPts val="0"/>
                        </a:spcAft>
                        <a:buNone/>
                      </a:pPr>
                      <a:r>
                        <a:rPr lang="en" sz="1100">
                          <a:solidFill>
                            <a:srgbClr val="525C65"/>
                          </a:solidFill>
                          <a:latin typeface="Open Sans SemiBold"/>
                          <a:ea typeface="Open Sans SemiBold"/>
                          <a:cs typeface="Open Sans SemiBold"/>
                          <a:sym typeface="Open Sans SemiBold"/>
                        </a:rPr>
                        <a:t>Met/Not Met</a:t>
                      </a:r>
                      <a:endParaRPr sz="1100">
                        <a:solidFill>
                          <a:srgbClr val="525C65"/>
                        </a:solidFill>
                        <a:latin typeface="Open Sans SemiBold"/>
                        <a:ea typeface="Open Sans SemiBold"/>
                        <a:cs typeface="Open Sans SemiBold"/>
                        <a:sym typeface="Open Sans SemiBold"/>
                      </a:endParaRPr>
                    </a:p>
                  </a:txBody>
                  <a:tcPr marL="80669" marR="80669" marT="80669" marB="80669"/>
                </a:tc>
                <a:extLst>
                  <a:ext uri="{0D108BD9-81ED-4DB2-BD59-A6C34878D82A}">
                    <a16:rowId xmlns:a16="http://schemas.microsoft.com/office/drawing/2014/main" val="10000"/>
                  </a:ext>
                </a:extLst>
              </a:tr>
              <a:tr h="336176">
                <a:tc>
                  <a:txBody>
                    <a:bodyPr/>
                    <a:lstStyle/>
                    <a:p>
                      <a:pPr marL="0" lvl="0" indent="0" algn="l" rtl="0">
                        <a:spcBef>
                          <a:spcPts val="0"/>
                        </a:spcBef>
                        <a:spcAft>
                          <a:spcPts val="0"/>
                        </a:spcAft>
                        <a:buNone/>
                      </a:pPr>
                      <a:r>
                        <a:rPr lang="en-US" sz="1100" dirty="0">
                          <a:solidFill>
                            <a:srgbClr val="525C65"/>
                          </a:solidFill>
                          <a:latin typeface="Open Sans Light"/>
                          <a:ea typeface="Open Sans Light"/>
                          <a:cs typeface="Open Sans Light"/>
                          <a:sym typeface="Open Sans Light"/>
                        </a:rPr>
                        <a:t>Ensure audit logs are not automatically deleted</a:t>
                      </a:r>
                    </a:p>
                  </a:txBody>
                  <a:tcPr marL="80669" marR="80669" marT="80669" marB="80669"/>
                </a:tc>
                <a:tc>
                  <a:txBody>
                    <a:bodyPr/>
                    <a:lstStyle/>
                    <a:p>
                      <a:pPr marL="0" lvl="0" indent="0" algn="ctr" rtl="0">
                        <a:spcBef>
                          <a:spcPts val="0"/>
                        </a:spcBef>
                        <a:spcAft>
                          <a:spcPts val="0"/>
                        </a:spcAft>
                        <a:buNone/>
                      </a:pPr>
                      <a:r>
                        <a:rPr lang="en-US" sz="1100" dirty="0">
                          <a:solidFill>
                            <a:srgbClr val="525C65"/>
                          </a:solidFill>
                          <a:latin typeface="Open Sans Light"/>
                          <a:ea typeface="Open Sans Light"/>
                          <a:cs typeface="Open Sans Light"/>
                          <a:sym typeface="Open Sans Light"/>
                        </a:rPr>
                        <a:t>Met</a:t>
                      </a:r>
                      <a:endParaRPr sz="1100" dirty="0">
                        <a:solidFill>
                          <a:srgbClr val="525C65"/>
                        </a:solidFill>
                        <a:latin typeface="Open Sans Light"/>
                        <a:ea typeface="Open Sans Light"/>
                        <a:cs typeface="Open Sans Light"/>
                        <a:sym typeface="Open Sans Light"/>
                      </a:endParaRPr>
                    </a:p>
                  </a:txBody>
                  <a:tcPr marL="80669" marR="80669" marT="80669" marB="80669"/>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E0FEF90A-6F89-B986-11C0-56A100E5F88E}"/>
              </a:ext>
            </a:extLst>
          </p:cNvPr>
          <p:cNvPicPr>
            <a:picLocks noChangeAspect="1"/>
          </p:cNvPicPr>
          <p:nvPr/>
        </p:nvPicPr>
        <p:blipFill>
          <a:blip r:embed="rId3"/>
          <a:stretch>
            <a:fillRect/>
          </a:stretch>
        </p:blipFill>
        <p:spPr>
          <a:xfrm>
            <a:off x="713996" y="4076631"/>
            <a:ext cx="5430008" cy="990738"/>
          </a:xfrm>
          <a:prstGeom prst="rect">
            <a:avLst/>
          </a:prstGeom>
        </p:spPr>
      </p:pic>
    </p:spTree>
    <p:extLst>
      <p:ext uri="{BB962C8B-B14F-4D97-AF65-F5344CB8AC3E}">
        <p14:creationId xmlns:p14="http://schemas.microsoft.com/office/powerpoint/2010/main" val="991939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4:</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rPr>
              <a:t>Cloud Management</a:t>
            </a:r>
          </a:p>
        </p:txBody>
      </p:sp>
    </p:spTree>
    <p:extLst>
      <p:ext uri="{BB962C8B-B14F-4D97-AF65-F5344CB8AC3E}">
        <p14:creationId xmlns:p14="http://schemas.microsoft.com/office/powerpoint/2010/main" val="3048812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Windows Server Build Sheet</a:t>
            </a:r>
            <a:endParaRPr dirty="0"/>
          </a:p>
        </p:txBody>
      </p:sp>
      <p:sp>
        <p:nvSpPr>
          <p:cNvPr id="188" name="Google Shape;188;p32"/>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As part of Fed F1rst Control Systems' security policy implementation, it is crucial to establish a standardized build process for Windows web servers hosted in the public cloud. A well-defined build sheet ensures consistency, security, and adherence to best practices across all server deployments. In this task, you will create a list of 10 essential items, along with examples, that should be included in a build sheet for a Windows web server hosted in the public cloud.</a:t>
            </a:r>
            <a:endParaRPr dirty="0"/>
          </a:p>
          <a:p>
            <a:pPr marL="0" indent="0">
              <a:spcBef>
                <a:spcPts val="1059"/>
              </a:spcBef>
              <a:buNone/>
            </a:pPr>
            <a:endParaRPr dirty="0"/>
          </a:p>
          <a:p>
            <a:r>
              <a:rPr lang="en" b="1" dirty="0">
                <a:latin typeface="Open Sans"/>
                <a:ea typeface="Open Sans"/>
                <a:cs typeface="Open Sans"/>
                <a:sym typeface="Open Sans"/>
              </a:rPr>
              <a:t>Identify 10 critical items</a:t>
            </a:r>
            <a:r>
              <a:rPr lang="en" dirty="0"/>
              <a:t> that should be included in a build sheet for a Windows web server hosted in the public cloud</a:t>
            </a:r>
            <a:endParaRPr dirty="0"/>
          </a:p>
          <a:p>
            <a:r>
              <a:rPr lang="en" dirty="0"/>
              <a:t>Provide a brief </a:t>
            </a:r>
            <a:r>
              <a:rPr lang="en" b="1" dirty="0">
                <a:latin typeface="Open Sans"/>
                <a:ea typeface="Open Sans"/>
                <a:cs typeface="Open Sans"/>
                <a:sym typeface="Open Sans"/>
              </a:rPr>
              <a:t>description OR an example</a:t>
            </a:r>
            <a:r>
              <a:rPr lang="en" dirty="0"/>
              <a:t> for each item</a:t>
            </a:r>
            <a:endParaRPr sz="971" dirty="0">
              <a:solidFill>
                <a:srgbClr val="F5F4EF"/>
              </a:solidFill>
              <a:highlight>
                <a:srgbClr val="2B2A27"/>
              </a:highlight>
              <a:latin typeface="Georgia"/>
              <a:ea typeface="Georgia"/>
              <a:cs typeface="Georgia"/>
              <a:sym typeface="Georgia"/>
            </a:endParaRPr>
          </a:p>
          <a:p>
            <a:pPr marL="0" indent="0">
              <a:buNone/>
            </a:pPr>
            <a:endParaRPr dirty="0"/>
          </a:p>
          <a:p>
            <a:pPr marL="0" indent="0">
              <a:spcBef>
                <a:spcPts val="1059"/>
              </a:spcBef>
              <a:buNone/>
            </a:pPr>
            <a:endParaRPr dirty="0"/>
          </a:p>
          <a:p>
            <a:pPr indent="0">
              <a:spcBef>
                <a:spcPts val="1059"/>
              </a:spcBef>
              <a:buNone/>
            </a:pPr>
            <a:endParaRPr sz="1059" dirty="0">
              <a:solidFill>
                <a:srgbClr val="0D0D0D"/>
              </a:solidFill>
              <a:highlight>
                <a:srgbClr val="FFFFFF"/>
              </a:highlight>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Server Build Sheet </a:t>
            </a:r>
            <a:endParaRPr/>
          </a:p>
        </p:txBody>
      </p:sp>
      <p:graphicFrame>
        <p:nvGraphicFramePr>
          <p:cNvPr id="194" name="Google Shape;194;p33"/>
          <p:cNvGraphicFramePr/>
          <p:nvPr>
            <p:extLst>
              <p:ext uri="{D42A27DB-BD31-4B8C-83A1-F6EECF244321}">
                <p14:modId xmlns:p14="http://schemas.microsoft.com/office/powerpoint/2010/main" val="1115914317"/>
              </p:ext>
            </p:extLst>
          </p:nvPr>
        </p:nvGraphicFramePr>
        <p:xfrm>
          <a:off x="233736" y="2123074"/>
          <a:ext cx="6390529" cy="6473986"/>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1</a:t>
                      </a:r>
                      <a:r>
                        <a:rPr lang="en-IN" sz="1600" b="1" u="none" dirty="0"/>
                        <a:t>. Operating System &amp; Version</a:t>
                      </a:r>
                      <a:endParaRPr sz="1600" b="1" u="none"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756199">
                <a:tc>
                  <a:txBody>
                    <a:bodyPr/>
                    <a:lstStyle/>
                    <a:p>
                      <a:pPr marL="0" lvl="0" indent="0" algn="l" rtl="0">
                        <a:spcBef>
                          <a:spcPts val="0"/>
                        </a:spcBef>
                        <a:spcAft>
                          <a:spcPts val="0"/>
                        </a:spcAft>
                        <a:buNone/>
                      </a:pPr>
                      <a:r>
                        <a:rPr lang="en-US" sz="1400" b="1" dirty="0"/>
                        <a:t>Example:</a:t>
                      </a:r>
                      <a:r>
                        <a:rPr lang="en-US" sz="1400" dirty="0"/>
                        <a:t> Windows Server 2022 Standard</a:t>
                      </a:r>
                    </a:p>
                    <a:p>
                      <a:pPr marL="0" lvl="0" indent="0" algn="l" rtl="0">
                        <a:spcBef>
                          <a:spcPts val="0"/>
                        </a:spcBef>
                        <a:spcAft>
                          <a:spcPts val="0"/>
                        </a:spcAft>
                        <a:buNone/>
                      </a:pPr>
                      <a:r>
                        <a:rPr lang="en-US" sz="1400" dirty="0"/>
                        <a:t>Specify the OS version and edition to ensure consistency and support compliance.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2.</a:t>
                      </a:r>
                      <a:r>
                        <a:rPr lang="en-IN" sz="1600" dirty="0"/>
                        <a:t> </a:t>
                      </a:r>
                      <a:r>
                        <a:rPr lang="en-IN" sz="1600" b="1" dirty="0"/>
                        <a:t>Security Patching &amp; Updates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848140">
                <a:tc>
                  <a:txBody>
                    <a:bodyPr/>
                    <a:lstStyle/>
                    <a:p>
                      <a:pPr marL="0" lvl="0" indent="0" algn="l" rtl="0">
                        <a:spcBef>
                          <a:spcPts val="0"/>
                        </a:spcBef>
                        <a:spcAft>
                          <a:spcPts val="0"/>
                        </a:spcAft>
                        <a:buNone/>
                      </a:pPr>
                      <a:r>
                        <a:rPr lang="en-US" sz="1400" b="1" dirty="0"/>
                        <a:t>Example:</a:t>
                      </a:r>
                      <a:r>
                        <a:rPr lang="en-US" sz="1400" dirty="0"/>
                        <a:t> Enable automatic Windows Updates and schedule security patching.</a:t>
                      </a:r>
                    </a:p>
                    <a:p>
                      <a:pPr marL="0" lvl="0" indent="0" algn="l" rtl="0">
                        <a:spcBef>
                          <a:spcPts val="0"/>
                        </a:spcBef>
                        <a:spcAft>
                          <a:spcPts val="0"/>
                        </a:spcAft>
                        <a:buNone/>
                      </a:pPr>
                      <a:r>
                        <a:rPr lang="en-US" sz="1400" dirty="0"/>
                        <a:t>Ensures the server remains protected against known vulnerabilities.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3. </a:t>
                      </a:r>
                      <a:r>
                        <a:rPr lang="en-IN" sz="1600" b="1" dirty="0"/>
                        <a:t>Web Server Software &amp; Configuration</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932846">
                <a:tc>
                  <a:txBody>
                    <a:bodyPr/>
                    <a:lstStyle/>
                    <a:p>
                      <a:pPr marL="0" lvl="0" indent="0" algn="l" rtl="0">
                        <a:spcBef>
                          <a:spcPts val="0"/>
                        </a:spcBef>
                        <a:spcAft>
                          <a:spcPts val="0"/>
                        </a:spcAft>
                        <a:buNone/>
                      </a:pPr>
                      <a:r>
                        <a:rPr lang="en-US" sz="1400" b="1" dirty="0"/>
                        <a:t>Example:</a:t>
                      </a:r>
                      <a:r>
                        <a:rPr lang="en-US" sz="1400" dirty="0"/>
                        <a:t> Install and configure IIS (Internet Information Services).</a:t>
                      </a:r>
                    </a:p>
                    <a:p>
                      <a:pPr marL="0" lvl="0" indent="0" algn="l" rtl="0">
                        <a:spcBef>
                          <a:spcPts val="0"/>
                        </a:spcBef>
                        <a:spcAft>
                          <a:spcPts val="0"/>
                        </a:spcAft>
                        <a:buNone/>
                      </a:pPr>
                      <a:r>
                        <a:rPr lang="en-US" sz="1400" dirty="0"/>
                        <a:t>Define settings like binding, default document, and directory permissions.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4. </a:t>
                      </a:r>
                      <a:r>
                        <a:rPr lang="en-IN" sz="1600" b="1" dirty="0"/>
                        <a:t>Firewall &amp; Network Security Settings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932846">
                <a:tc>
                  <a:txBody>
                    <a:bodyPr/>
                    <a:lstStyle/>
                    <a:p>
                      <a:pPr marL="0" lvl="0" indent="0" algn="l" rtl="0">
                        <a:spcBef>
                          <a:spcPts val="0"/>
                        </a:spcBef>
                        <a:spcAft>
                          <a:spcPts val="0"/>
                        </a:spcAft>
                        <a:buNone/>
                      </a:pPr>
                      <a:r>
                        <a:rPr lang="en-US" sz="1400" b="1" dirty="0"/>
                        <a:t>Example:</a:t>
                      </a:r>
                      <a:r>
                        <a:rPr lang="en-US" sz="1400" dirty="0"/>
                        <a:t> Enable Windows Defender Firewall, restrict RDP to internal IPs, and configure security groups.</a:t>
                      </a:r>
                    </a:p>
                    <a:p>
                      <a:pPr marL="0" lvl="0" indent="0" algn="l" rtl="0">
                        <a:spcBef>
                          <a:spcPts val="0"/>
                        </a:spcBef>
                        <a:spcAft>
                          <a:spcPts val="0"/>
                        </a:spcAft>
                        <a:buNone/>
                      </a:pPr>
                      <a:r>
                        <a:rPr lang="en-US" sz="1400" dirty="0"/>
                        <a:t>Restricts unauthorized access while allowing necessary traffic.</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5. </a:t>
                      </a:r>
                      <a:r>
                        <a:rPr lang="en-IN" sz="1600" b="1" dirty="0"/>
                        <a:t>Identity &amp; Access Management (IAM)</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932846">
                <a:tc>
                  <a:txBody>
                    <a:bodyPr/>
                    <a:lstStyle/>
                    <a:p>
                      <a:pPr marL="0" lvl="0" indent="0" algn="l" rtl="0">
                        <a:spcBef>
                          <a:spcPts val="0"/>
                        </a:spcBef>
                        <a:spcAft>
                          <a:spcPts val="0"/>
                        </a:spcAft>
                        <a:buNone/>
                      </a:pPr>
                      <a:r>
                        <a:rPr lang="en-US" sz="1400" b="1" dirty="0"/>
                        <a:t>Example:</a:t>
                      </a:r>
                      <a:r>
                        <a:rPr lang="en-US" sz="1400" dirty="0"/>
                        <a:t> Disable local admin accounts and use Azure AD for authentication.</a:t>
                      </a:r>
                    </a:p>
                    <a:p>
                      <a:pPr marL="0" lvl="0" indent="0" algn="l" rtl="0">
                        <a:spcBef>
                          <a:spcPts val="0"/>
                        </a:spcBef>
                        <a:spcAft>
                          <a:spcPts val="0"/>
                        </a:spcAft>
                        <a:buNone/>
                      </a:pPr>
                      <a:r>
                        <a:rPr lang="en-US" sz="1400" dirty="0"/>
                        <a:t>Enforces least privilege access and centralized user management.</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34"/>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Windows Server Build Sheet </a:t>
            </a:r>
            <a:endParaRPr/>
          </a:p>
        </p:txBody>
      </p:sp>
      <p:graphicFrame>
        <p:nvGraphicFramePr>
          <p:cNvPr id="200" name="Google Shape;200;p34"/>
          <p:cNvGraphicFramePr/>
          <p:nvPr>
            <p:extLst>
              <p:ext uri="{D42A27DB-BD31-4B8C-83A1-F6EECF244321}">
                <p14:modId xmlns:p14="http://schemas.microsoft.com/office/powerpoint/2010/main" val="565604623"/>
              </p:ext>
            </p:extLst>
          </p:nvPr>
        </p:nvGraphicFramePr>
        <p:xfrm>
          <a:off x="233736" y="2123074"/>
          <a:ext cx="6390529" cy="6473986"/>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6. </a:t>
                      </a:r>
                      <a:r>
                        <a:rPr lang="en-IN" sz="1600" b="1" dirty="0"/>
                        <a:t>Secure Remote Access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756199">
                <a:tc>
                  <a:txBody>
                    <a:bodyPr/>
                    <a:lstStyle/>
                    <a:p>
                      <a:pPr marL="0" lvl="0" indent="0" algn="l" rtl="0">
                        <a:spcBef>
                          <a:spcPts val="0"/>
                        </a:spcBef>
                        <a:spcAft>
                          <a:spcPts val="0"/>
                        </a:spcAft>
                        <a:buNone/>
                      </a:pPr>
                      <a:r>
                        <a:rPr lang="en-US" sz="1400" b="1" dirty="0"/>
                        <a:t>Example:</a:t>
                      </a:r>
                      <a:r>
                        <a:rPr lang="en-US" sz="1400" dirty="0"/>
                        <a:t> Enable RDP over VPN only and enforce Multi-Factor Authentication (MFA).</a:t>
                      </a:r>
                    </a:p>
                    <a:p>
                      <a:pPr marL="0" lvl="0" indent="0" algn="l" rtl="0">
                        <a:spcBef>
                          <a:spcPts val="0"/>
                        </a:spcBef>
                        <a:spcAft>
                          <a:spcPts val="0"/>
                        </a:spcAft>
                        <a:buNone/>
                      </a:pPr>
                      <a:r>
                        <a:rPr lang="en-US" sz="1400" dirty="0"/>
                        <a:t>Prevents unauthorized access and strengthens security.</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7. </a:t>
                      </a:r>
                      <a:r>
                        <a:rPr lang="en-IN" sz="1600" b="1" dirty="0"/>
                        <a:t>SSL/TLS Certificate Installation</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848140">
                <a:tc>
                  <a:txBody>
                    <a:bodyPr/>
                    <a:lstStyle/>
                    <a:p>
                      <a:pPr marL="0" lvl="0" indent="0" algn="l" rtl="0">
                        <a:spcBef>
                          <a:spcPts val="0"/>
                        </a:spcBef>
                        <a:spcAft>
                          <a:spcPts val="0"/>
                        </a:spcAft>
                        <a:buNone/>
                      </a:pPr>
                      <a:r>
                        <a:rPr lang="en-US" sz="1400" b="1" dirty="0"/>
                        <a:t>Example:</a:t>
                      </a:r>
                      <a:r>
                        <a:rPr lang="en-US" sz="1400" dirty="0"/>
                        <a:t> Install an SSL certificate from a trusted CA and enforce HTTPS.</a:t>
                      </a:r>
                    </a:p>
                    <a:p>
                      <a:pPr marL="0" lvl="0" indent="0" algn="l" rtl="0">
                        <a:spcBef>
                          <a:spcPts val="0"/>
                        </a:spcBef>
                        <a:spcAft>
                          <a:spcPts val="0"/>
                        </a:spcAft>
                        <a:buNone/>
                      </a:pPr>
                      <a:r>
                        <a:rPr lang="en-US" sz="1400" dirty="0"/>
                        <a:t>Protects data in transit and ensures secure communication.</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8. </a:t>
                      </a:r>
                      <a:r>
                        <a:rPr lang="en-IN" sz="1600" b="1" dirty="0"/>
                        <a:t>Logging &amp; Monitoring Setup</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932846">
                <a:tc>
                  <a:txBody>
                    <a:bodyPr/>
                    <a:lstStyle/>
                    <a:p>
                      <a:pPr marL="0" lvl="0" indent="0" algn="l" rtl="0">
                        <a:spcBef>
                          <a:spcPts val="0"/>
                        </a:spcBef>
                        <a:spcAft>
                          <a:spcPts val="0"/>
                        </a:spcAft>
                        <a:buNone/>
                      </a:pPr>
                      <a:r>
                        <a:rPr lang="en-US" sz="1400" b="1" dirty="0"/>
                        <a:t>Example:</a:t>
                      </a:r>
                      <a:r>
                        <a:rPr lang="en-US" sz="1400" dirty="0"/>
                        <a:t> Enable Windows Event Logging, integrate with SIEM (e.g., Azure Sentinel).</a:t>
                      </a:r>
                    </a:p>
                    <a:p>
                      <a:pPr marL="0" lvl="0" indent="0" algn="l" rtl="0">
                        <a:spcBef>
                          <a:spcPts val="0"/>
                        </a:spcBef>
                        <a:spcAft>
                          <a:spcPts val="0"/>
                        </a:spcAft>
                        <a:buNone/>
                      </a:pPr>
                      <a:r>
                        <a:rPr lang="en-US" sz="1400" dirty="0"/>
                        <a:t>Tracks system activities for security audits and incident response.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9. </a:t>
                      </a:r>
                      <a:r>
                        <a:rPr lang="en-IN" sz="1600" b="1" dirty="0"/>
                        <a:t>Backup &amp; Disaster Recovery</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932846">
                <a:tc>
                  <a:txBody>
                    <a:bodyPr/>
                    <a:lstStyle/>
                    <a:p>
                      <a:pPr marL="0" lvl="0" indent="0" algn="l" rtl="0">
                        <a:spcBef>
                          <a:spcPts val="0"/>
                        </a:spcBef>
                        <a:spcAft>
                          <a:spcPts val="0"/>
                        </a:spcAft>
                        <a:buNone/>
                      </a:pPr>
                      <a:r>
                        <a:rPr lang="en-US" sz="1400" b="1" dirty="0"/>
                        <a:t>Example:</a:t>
                      </a:r>
                      <a:r>
                        <a:rPr lang="en-US" sz="1400" dirty="0"/>
                        <a:t> Configure daily snapshots and offsite backups using Azure Backup.</a:t>
                      </a:r>
                    </a:p>
                    <a:p>
                      <a:pPr marL="0" lvl="0" indent="0" algn="l" rtl="0">
                        <a:spcBef>
                          <a:spcPts val="0"/>
                        </a:spcBef>
                        <a:spcAft>
                          <a:spcPts val="0"/>
                        </a:spcAft>
                        <a:buNone/>
                      </a:pPr>
                      <a:r>
                        <a:rPr lang="en-US" sz="1400" dirty="0"/>
                        <a:t>Ensures data availability and recovery in case of failure.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10. </a:t>
                      </a:r>
                      <a:r>
                        <a:rPr lang="en-IN" sz="1600" b="1" dirty="0"/>
                        <a:t>Hardening &amp; Compliance Checks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932846">
                <a:tc>
                  <a:txBody>
                    <a:bodyPr/>
                    <a:lstStyle/>
                    <a:p>
                      <a:pPr marL="0" lvl="0" indent="0" algn="l" rtl="0">
                        <a:spcBef>
                          <a:spcPts val="0"/>
                        </a:spcBef>
                        <a:spcAft>
                          <a:spcPts val="0"/>
                        </a:spcAft>
                        <a:buNone/>
                      </a:pPr>
                      <a:r>
                        <a:rPr lang="en-US" sz="1400" b="1" dirty="0"/>
                        <a:t>Example:</a:t>
                      </a:r>
                      <a:r>
                        <a:rPr lang="en-US" sz="1400" dirty="0"/>
                        <a:t> Disable unused services, enforce strong password policies, and follow CIS benchmarks.</a:t>
                      </a:r>
                    </a:p>
                    <a:p>
                      <a:pPr marL="0" lvl="0" indent="0" algn="l" rtl="0">
                        <a:spcBef>
                          <a:spcPts val="0"/>
                        </a:spcBef>
                        <a:spcAft>
                          <a:spcPts val="0"/>
                        </a:spcAft>
                        <a:buNone/>
                      </a:pPr>
                      <a:r>
                        <a:rPr lang="en-US" sz="1400" dirty="0"/>
                        <a:t>Reduces attack surface and ensures compliance with security standards.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Enhancing Cloud Security with CASB </a:t>
            </a:r>
            <a:endParaRPr/>
          </a:p>
        </p:txBody>
      </p:sp>
      <p:sp>
        <p:nvSpPr>
          <p:cNvPr id="206" name="Google Shape;206;p35"/>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With Fed F1rst Control Systems increasingly leveraging cloud technologies for their operations, the integration of Cloud Access Security Brokers (CASB) into their security framework is more crucial than ever. Given your understanding of CASBs from the course, you're in a unique position to assess how their capabilities can specifically enhance Fed F1rst's security posture.</a:t>
            </a:r>
            <a:endParaRPr dirty="0"/>
          </a:p>
          <a:p>
            <a:pPr marL="0" indent="0">
              <a:spcBef>
                <a:spcPts val="1059"/>
              </a:spcBef>
              <a:buNone/>
            </a:pPr>
            <a:endParaRPr dirty="0"/>
          </a:p>
          <a:p>
            <a:pPr>
              <a:spcBef>
                <a:spcPts val="1059"/>
              </a:spcBef>
            </a:pPr>
            <a:r>
              <a:rPr lang="en" dirty="0"/>
              <a:t>Identify </a:t>
            </a:r>
            <a:r>
              <a:rPr lang="en" b="1" dirty="0">
                <a:latin typeface="Open Sans"/>
                <a:ea typeface="Open Sans"/>
                <a:cs typeface="Open Sans"/>
                <a:sym typeface="Open Sans"/>
              </a:rPr>
              <a:t>5 specific benefits</a:t>
            </a:r>
            <a:r>
              <a:rPr lang="en" dirty="0"/>
              <a:t> of CASBs that would directly enhance the cloud security posture of Fed F1rst Control Systems</a:t>
            </a:r>
            <a:endParaRPr dirty="0"/>
          </a:p>
          <a:p>
            <a:r>
              <a:rPr lang="en" dirty="0"/>
              <a:t>Provide a concise, clear description for each benefit</a:t>
            </a:r>
            <a:endParaRPr dirty="0"/>
          </a:p>
          <a:p>
            <a:pPr marL="0" indent="0">
              <a:spcBef>
                <a:spcPts val="1059"/>
              </a:spcBef>
              <a:buNone/>
            </a:pPr>
            <a:endParaRPr dirty="0"/>
          </a:p>
          <a:p>
            <a:pPr indent="0">
              <a:spcBef>
                <a:spcPts val="1059"/>
              </a:spcBef>
              <a:buNone/>
            </a:pPr>
            <a:endParaRPr sz="1059" dirty="0">
              <a:solidFill>
                <a:srgbClr val="0D0D0D"/>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36"/>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dirty="0"/>
              <a:t>Enhancing Cloud Security with CASB </a:t>
            </a:r>
            <a:endParaRPr dirty="0"/>
          </a:p>
        </p:txBody>
      </p:sp>
      <p:graphicFrame>
        <p:nvGraphicFramePr>
          <p:cNvPr id="212" name="Google Shape;212;p36"/>
          <p:cNvGraphicFramePr/>
          <p:nvPr>
            <p:extLst>
              <p:ext uri="{D42A27DB-BD31-4B8C-83A1-F6EECF244321}">
                <p14:modId xmlns:p14="http://schemas.microsoft.com/office/powerpoint/2010/main" val="1540231201"/>
              </p:ext>
            </p:extLst>
          </p:nvPr>
        </p:nvGraphicFramePr>
        <p:xfrm>
          <a:off x="233696" y="1665874"/>
          <a:ext cx="6390529" cy="709978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1. </a:t>
                      </a:r>
                      <a:r>
                        <a:rPr lang="en-IN" sz="1600" b="1" dirty="0"/>
                        <a:t>Visibility into Cloud Usage</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756199">
                <a:tc>
                  <a:txBody>
                    <a:bodyPr/>
                    <a:lstStyle/>
                    <a:p>
                      <a:pPr marL="0" lvl="0" indent="0" algn="l" rtl="0">
                        <a:spcBef>
                          <a:spcPts val="0"/>
                        </a:spcBef>
                        <a:spcAft>
                          <a:spcPts val="0"/>
                        </a:spcAft>
                        <a:buNone/>
                      </a:pPr>
                      <a:r>
                        <a:rPr lang="en-US" sz="1400" dirty="0"/>
                        <a:t>CASBs provide comprehensive visibility into all cloud applications being used within an organization, including both sanctioned and unsanctioned (shadow IT) applications. This visibility allows Fed F1rst to monitor cloud activities and ensure compliance with security policies.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2. </a:t>
                      </a:r>
                      <a:r>
                        <a:rPr lang="en-IN" sz="1600" b="1" dirty="0"/>
                        <a:t>Data Loss Prevention (DLP)</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848140">
                <a:tc>
                  <a:txBody>
                    <a:bodyPr/>
                    <a:lstStyle/>
                    <a:p>
                      <a:pPr marL="0" lvl="0" indent="0" algn="l" rtl="0">
                        <a:spcBef>
                          <a:spcPts val="0"/>
                        </a:spcBef>
                        <a:spcAft>
                          <a:spcPts val="0"/>
                        </a:spcAft>
                        <a:buNone/>
                      </a:pPr>
                      <a:r>
                        <a:rPr lang="en-US" sz="1400" dirty="0"/>
                        <a:t>CASBs enable the enforcement of data protection policies to prevent sensitive data from being uploaded or accessed inappropriately in cloud environments. Fed F1rst can apply encryption, access control, and DLP policies to safeguard intellectual property and other sensitive information.</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3. </a:t>
                      </a:r>
                      <a:r>
                        <a:rPr lang="en-US" sz="1600" b="1" dirty="0"/>
                        <a:t>Threat Detection and Incident Response</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932846">
                <a:tc>
                  <a:txBody>
                    <a:bodyPr/>
                    <a:lstStyle/>
                    <a:p>
                      <a:pPr marL="0" lvl="0" indent="0" algn="l" rtl="0">
                        <a:spcBef>
                          <a:spcPts val="0"/>
                        </a:spcBef>
                        <a:spcAft>
                          <a:spcPts val="0"/>
                        </a:spcAft>
                        <a:buNone/>
                      </a:pPr>
                      <a:r>
                        <a:rPr lang="en-US" sz="1400" dirty="0"/>
                        <a:t>By integrating threat intelligence, CASBs can detect anomalous behavior and potential security incidents, such as unauthorized access or data exfiltration. This enables Fed F1rst to respond quickly to threats, reducing the likelihood of a security breach or data loss.</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4. </a:t>
                      </a:r>
                      <a:r>
                        <a:rPr lang="en-US" sz="1600" b="1" dirty="0"/>
                        <a:t>Access Control and Identity Management</a:t>
                      </a:r>
                      <a:endParaRPr sz="16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932846">
                <a:tc>
                  <a:txBody>
                    <a:bodyPr/>
                    <a:lstStyle/>
                    <a:p>
                      <a:pPr marL="0" lvl="0" indent="0" algn="l" rtl="0">
                        <a:spcBef>
                          <a:spcPts val="0"/>
                        </a:spcBef>
                        <a:spcAft>
                          <a:spcPts val="0"/>
                        </a:spcAft>
                        <a:buNone/>
                      </a:pPr>
                      <a:r>
                        <a:rPr lang="en-US" sz="1400" dirty="0"/>
                        <a:t>CASBs help enforce strong access control policies by integrating with identity management systems (like Single Sign-On and Multi-Factor Authentication). Fed F1rst can ensure that only authorized users and devices can access critical cloud resources, improving overall security.</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5. </a:t>
                      </a:r>
                      <a:r>
                        <a:rPr lang="en-IN" sz="1600" b="1" dirty="0"/>
                        <a:t>Compliance Monitoring and Reporting</a:t>
                      </a:r>
                      <a:endParaRPr sz="1600" b="1"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932846">
                <a:tc>
                  <a:txBody>
                    <a:bodyPr/>
                    <a:lstStyle/>
                    <a:p>
                      <a:pPr marL="0" lvl="0" indent="0" algn="l" rtl="0">
                        <a:spcBef>
                          <a:spcPts val="0"/>
                        </a:spcBef>
                        <a:spcAft>
                          <a:spcPts val="0"/>
                        </a:spcAft>
                        <a:buNone/>
                      </a:pPr>
                      <a:r>
                        <a:rPr lang="en-US" sz="1400" dirty="0"/>
                        <a:t>CASBs simplify compliance with regulations such as GDPR, HIPAA, and other industry standards by continuously monitoring cloud activities and generating audit trails. Fed F1rst can maintain regulatory compliance while avoiding penalties associated with non-compliance.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2408</TotalTime>
  <Words>3430</Words>
  <Application>Microsoft Office PowerPoint</Application>
  <PresentationFormat>On-screen Show (4:3)</PresentationFormat>
  <Paragraphs>345</Paragraphs>
  <Slides>45</Slides>
  <Notes>39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45</vt:i4>
      </vt:variant>
    </vt:vector>
  </HeadingPairs>
  <TitlesOfParts>
    <vt:vector size="57" baseType="lpstr">
      <vt:lpstr>Arial</vt:lpstr>
      <vt:lpstr>Calibri</vt:lpstr>
      <vt:lpstr>Corbel</vt:lpstr>
      <vt:lpstr>Georgia</vt:lpstr>
      <vt:lpstr>Helvetica Neue</vt:lpstr>
      <vt:lpstr>Open Sans</vt:lpstr>
      <vt:lpstr>Open Sans Light</vt:lpstr>
      <vt:lpstr>Open Sans SemiBold</vt:lpstr>
      <vt:lpstr>Roboto</vt:lpstr>
      <vt:lpstr>Wingdings</vt:lpstr>
      <vt:lpstr>Banded</vt:lpstr>
      <vt:lpstr>Simple Light</vt:lpstr>
      <vt:lpstr>PowerPoint Presentation</vt:lpstr>
      <vt:lpstr>PowerPoint Presentation</vt:lpstr>
      <vt:lpstr>Overview</vt:lpstr>
      <vt:lpstr>PowerPoint Presentation</vt:lpstr>
      <vt:lpstr>Windows 10 Hardening</vt:lpstr>
      <vt:lpstr>Windows 10/11 Hardening</vt:lpstr>
      <vt:lpstr>Windows 10 Hardening</vt:lpstr>
      <vt:lpstr>Windows 10 Hardening</vt:lpstr>
      <vt:lpstr>MacOS Hardening</vt:lpstr>
      <vt:lpstr>MacOS Hardening</vt:lpstr>
      <vt:lpstr>MacOS Hardening</vt:lpstr>
      <vt:lpstr>PowerPoint Presentation</vt:lpstr>
      <vt:lpstr>Email Policy</vt:lpstr>
      <vt:lpstr>Email Policy</vt:lpstr>
      <vt:lpstr>BYOD Policy</vt:lpstr>
      <vt:lpstr>BYOD Policy</vt:lpstr>
      <vt:lpstr>PowerPoint Presentation</vt:lpstr>
      <vt:lpstr>Windows Desktop Compliance</vt:lpstr>
      <vt:lpstr>Windows Desktop Compliance</vt:lpstr>
      <vt:lpstr>Windows Desktop Compliance</vt:lpstr>
      <vt:lpstr>Windows Desktop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Linux Compliance</vt:lpstr>
      <vt:lpstr>PowerPoint Presentation</vt:lpstr>
      <vt:lpstr>Windows Server Build Sheet</vt:lpstr>
      <vt:lpstr>Windows Server Build Sheet </vt:lpstr>
      <vt:lpstr>Windows Server Build Sheet </vt:lpstr>
      <vt:lpstr>Enhancing Cloud Security with CASB </vt:lpstr>
      <vt:lpstr>Enhancing Cloud Security with CASB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Arnav Gupta</dc:creator>
  <cp:lastModifiedBy>Rishika Sinha</cp:lastModifiedBy>
  <cp:revision>19</cp:revision>
  <dcterms:created xsi:type="dcterms:W3CDTF">2024-12-31T07:43:09Z</dcterms:created>
  <dcterms:modified xsi:type="dcterms:W3CDTF">2025-02-05T17:28:39Z</dcterms:modified>
</cp:coreProperties>
</file>